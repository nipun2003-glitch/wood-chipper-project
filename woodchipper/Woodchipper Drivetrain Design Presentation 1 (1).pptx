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embeddedFontLst>
    <p:embeddedFont>
      <p:font typeface="GreekC" panose="00000400000000000000" pitchFamily="2" charset="0"/>
      <p:regular r:id="rId22"/>
    </p:embeddedFont>
    <p:embeddedFont>
      <p:font typeface="Lao UI" panose="020B0502040204020203" pitchFamily="34" charset="0"/>
      <p:regular r:id="rId23"/>
      <p:bold r:id="rId24"/>
    </p:embeddedFont>
    <p:embeddedFont>
      <p:font typeface="Lato" panose="020F0502020204030203" pitchFamily="34" charset="0"/>
      <p:regular r:id="rId25"/>
      <p:bold r:id="rId26"/>
      <p:italic r:id="rId27"/>
      <p:boldItalic r:id="rId28"/>
    </p:embeddedFont>
    <p:embeddedFont>
      <p:font typeface="Poppins" panose="000005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3FFCA73-8464-4DC1-9F8D-AAE230CF34E9}">
  <a:tblStyle styleId="{73FFCA73-8464-4DC1-9F8D-AAE230CF34E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13:05:40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13:05:41.4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13:05:43.3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13:05:54.5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13:05:54.7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13:06:42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7516 24404,'0'-7516'0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13:06:50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24258,'5518'0'0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customXml" Target="../ink/ink2.xml"/><Relationship Id="rId12" Type="http://schemas.openxmlformats.org/officeDocument/2006/relationships/customXml" Target="../ink/ink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4.png"/><Relationship Id="rId5" Type="http://schemas.openxmlformats.org/officeDocument/2006/relationships/customXml" Target="../ink/ink1.xml"/><Relationship Id="rId15" Type="http://schemas.openxmlformats.org/officeDocument/2006/relationships/image" Target="../media/image16.png"/><Relationship Id="rId10" Type="http://schemas.openxmlformats.org/officeDocument/2006/relationships/customXml" Target="../ink/ink5.xml"/><Relationship Id="rId4" Type="http://schemas.openxmlformats.org/officeDocument/2006/relationships/image" Target="../media/image12.png"/><Relationship Id="rId9" Type="http://schemas.openxmlformats.org/officeDocument/2006/relationships/customXml" Target="../ink/ink4.xml"/><Relationship Id="rId14" Type="http://schemas.openxmlformats.org/officeDocument/2006/relationships/customXml" Target="../ink/ink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210389" y="2319337"/>
            <a:ext cx="9771221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Woodchipper Design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443037" y="3367087"/>
            <a:ext cx="93059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Machine Elements 2 | Market Research, Calculation &amp; Design Plan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1443037" y="4090987"/>
            <a:ext cx="9305925" cy="1592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chemeClr val="bg1"/>
                </a:solidFill>
                <a:latin typeface="Lao UI" panose="020F0502020204030204" pitchFamily="34" charset="0"/>
                <a:ea typeface="Lato"/>
                <a:cs typeface="Lao UI" panose="020F0502020204030204" pitchFamily="34" charset="0"/>
                <a:sym typeface="Lato"/>
              </a:rPr>
              <a:t>Nipun Gunarathne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chemeClr val="bg1"/>
                </a:solidFill>
                <a:latin typeface="Lao UI" panose="020F0502020204030204" pitchFamily="34" charset="0"/>
                <a:ea typeface="Lato"/>
                <a:cs typeface="Lao UI" panose="020F0502020204030204" pitchFamily="34" charset="0"/>
                <a:sym typeface="Lato"/>
              </a:rPr>
              <a:t>Antony </a:t>
            </a:r>
            <a:r>
              <a:rPr lang="en-US" sz="1350" dirty="0" err="1">
                <a:solidFill>
                  <a:schemeClr val="bg1"/>
                </a:solidFill>
                <a:latin typeface="Lao UI" panose="020F0502020204030204" pitchFamily="34" charset="0"/>
                <a:ea typeface="Lato"/>
                <a:cs typeface="Lao UI" panose="020F0502020204030204" pitchFamily="34" charset="0"/>
                <a:sym typeface="Lato"/>
              </a:rPr>
              <a:t>Akwalu</a:t>
            </a:r>
            <a:endParaRPr lang="en-US" sz="1350" dirty="0">
              <a:solidFill>
                <a:schemeClr val="bg1"/>
              </a:solidFill>
              <a:latin typeface="Lao UI" panose="020F0502020204030204" pitchFamily="34" charset="0"/>
              <a:ea typeface="Lato"/>
              <a:cs typeface="Lao UI" panose="020F0502020204030204" pitchFamily="34" charset="0"/>
              <a:sym typeface="Lato"/>
            </a:endParaRP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Lao UI" panose="020F0502020204030204" pitchFamily="34" charset="0"/>
                <a:cs typeface="Lao UI" panose="020F0502020204030204" pitchFamily="34" charset="0"/>
              </a:rPr>
              <a:t>Levente </a:t>
            </a:r>
            <a:r>
              <a:rPr lang="en-US" dirty="0" err="1">
                <a:solidFill>
                  <a:schemeClr val="bg1"/>
                </a:solidFill>
                <a:latin typeface="Lao UI" panose="020F0502020204030204" pitchFamily="34" charset="0"/>
                <a:cs typeface="Lao UI" panose="020F0502020204030204" pitchFamily="34" charset="0"/>
              </a:rPr>
              <a:t>Cseszkó</a:t>
            </a:r>
            <a:endParaRPr lang="en-US" dirty="0">
              <a:solidFill>
                <a:schemeClr val="bg1"/>
              </a:solidFill>
              <a:latin typeface="Lao UI" panose="020F0502020204030204" pitchFamily="34" charset="0"/>
              <a:cs typeface="Lao UI" panose="020F050202020403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Lao UI" panose="020F0502020204030204" pitchFamily="34" charset="0"/>
                <a:cs typeface="Lao UI" panose="020F0502020204030204" pitchFamily="34" charset="0"/>
              </a:rPr>
              <a:t>Gaurawa Kovida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6B1CFB-95E5-35A7-E1EA-EAC73D2495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955482" y="2281237"/>
            <a:ext cx="828103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Scope &amp; Objectives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619750" y="3614737"/>
            <a:ext cx="952500" cy="4762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762250" y="3948112"/>
            <a:ext cx="6667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To design, calculate, and document a complete, safe, and mobile woodchipper based on the provided 7.5 kW motor specification.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BF7D87-CFBB-C5C0-2CE6-46E761ED4F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09762"/>
            <a:ext cx="2476500" cy="39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29000" y="1909762"/>
            <a:ext cx="2476500" cy="39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1909762"/>
            <a:ext cx="2476500" cy="39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0" y="1909762"/>
            <a:ext cx="2476500" cy="399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819626" y="2919412"/>
            <a:ext cx="198024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Cutter &amp; Housing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66775" y="4148137"/>
            <a:ext cx="1885950" cy="1558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Design a disc cutter, main shaft, and protective housing. Target 50mm branch capacity.</a:t>
            </a:r>
            <a:endParaRPr dirty="0"/>
          </a:p>
        </p:txBody>
      </p:sp>
      <p:sp>
        <p:nvSpPr>
          <p:cNvPr id="107" name="Google Shape;107;p15"/>
          <p:cNvSpPr txBox="1"/>
          <p:nvPr/>
        </p:nvSpPr>
        <p:spPr>
          <a:xfrm>
            <a:off x="3677126" y="2919412"/>
            <a:ext cx="198024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Drivetrain Calculation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3724275" y="4148137"/>
            <a:ext cx="188595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Calculate and document the full power transmission: belt drive, shaft loads, and bearing selection.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534626" y="2919412"/>
            <a:ext cx="198024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Frame &amp; Mobility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581775" y="4148137"/>
            <a:ext cx="18859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Create a stable sheet metal frame on a mobile platform for transport and operation.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392126" y="2919412"/>
            <a:ext cx="198024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Safety &amp; Function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439275" y="4148137"/>
            <a:ext cx="188595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The final design must be functional, with all guards and safety features included.</a:t>
            </a:r>
            <a:endParaRPr dirty="0"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81150" y="22240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95800" y="2224087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39000" y="22240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125075" y="222408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 Project Requirements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DD3645-8AC7-F969-9A1E-3604E8AA41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3460670" y="2281237"/>
            <a:ext cx="527065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Market Research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5619750" y="3614737"/>
            <a:ext cx="952500" cy="4762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2762250" y="3948112"/>
            <a:ext cx="6667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Analyzing the "Prosumer" (7.5 kW) woodchipper market to establish our design philosophy.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F495E8-01E0-F91F-077C-D55E99F2BB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71687"/>
            <a:ext cx="5286375" cy="366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71687"/>
            <a:ext cx="5286375" cy="366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962025" y="2462212"/>
            <a:ext cx="473059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1. High-Speed / Low-Torque (Budget)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962025" y="3548062"/>
            <a:ext cx="450532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These are often direct-driven from 3600 RPM petrol engines, spinning the cutter at 2200-3000+ RPM</a:t>
            </a:r>
            <a:r>
              <a:rPr lang="en-US" sz="1350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35" name="Google Shape;135;p17"/>
          <p:cNvSpPr txBox="1"/>
          <p:nvPr/>
        </p:nvSpPr>
        <p:spPr>
          <a:xfrm>
            <a:off x="962025" y="4233862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Pros:</a:t>
            </a: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Cheap to build (no reduction), lighter flywheel.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962025" y="4662487"/>
            <a:ext cx="450532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Cons:</a:t>
            </a: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Lower torque (stalls on 50mm+ wood), high noise, and faster wear on knives and bearings.</a:t>
            </a:r>
            <a:endParaRPr dirty="0"/>
          </a:p>
        </p:txBody>
      </p:sp>
      <p:sp>
        <p:nvSpPr>
          <p:cNvPr id="137" name="Google Shape;137;p17"/>
          <p:cNvSpPr txBox="1"/>
          <p:nvPr/>
        </p:nvSpPr>
        <p:spPr>
          <a:xfrm>
            <a:off x="6724650" y="2462212"/>
            <a:ext cx="473059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2. Moderate-Speed / High-Torque (Premium)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6724650" y="3548062"/>
            <a:ext cx="450532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Uses a deliberate belt reduction from a high-speed motor to run the cutter at </a:t>
            </a:r>
            <a:r>
              <a:rPr lang="en-US" sz="1350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1300-2000 RPM.</a:t>
            </a:r>
            <a:endParaRPr dirty="0"/>
          </a:p>
        </p:txBody>
      </p:sp>
      <p:sp>
        <p:nvSpPr>
          <p:cNvPr id="139" name="Google Shape;139;p17"/>
          <p:cNvSpPr txBox="1"/>
          <p:nvPr/>
        </p:nvSpPr>
        <p:spPr>
          <a:xfrm>
            <a:off x="6724650" y="4233862"/>
            <a:ext cx="450532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Pros:</a:t>
            </a: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Vastly superior torque, ideal for a heavy flywheel, powers through tough wood, and longer component life.</a:t>
            </a:r>
            <a:endParaRPr dirty="0"/>
          </a:p>
        </p:txBody>
      </p:sp>
      <p:sp>
        <p:nvSpPr>
          <p:cNvPr id="140" name="Google Shape;140;p17"/>
          <p:cNvSpPr txBox="1"/>
          <p:nvPr/>
        </p:nvSpPr>
        <p:spPr>
          <a:xfrm>
            <a:off x="6724650" y="4919662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Cons:</a:t>
            </a: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Requires a heavier disc and a calculated drive system.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Market Analysis: Competing Designs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1F7045-4CA4-D2DA-CAF9-DA783DE3AE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571500" y="2776537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2x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571500" y="4205287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More Torque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6334125" y="2776537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Why 1460 RPM is the Smart Choice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6334125" y="3405187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The law of power is </a:t>
            </a:r>
            <a:r>
              <a:rPr lang="en-US" sz="1350" b="1" i="0" u="none" strike="noStrike" cap="none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P = T · ω</a:t>
            </a: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(Power = Torque × Speed).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334125" y="3833812"/>
            <a:ext cx="528637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By using a 2:1 belt reduction (2920 RPM → 1460 RPM), we halve the speed but </a:t>
            </a:r>
            <a:r>
              <a:rPr lang="en-US" sz="1350" b="1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double the available torque </a:t>
            </a: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at the cutter disc. This high torque, combined with a heavy flywheel, allows our 7.5 kW motor to easily chip 50mm branches without stalling.</a:t>
            </a:r>
            <a:endParaRPr dirty="0"/>
          </a:p>
        </p:txBody>
      </p:sp>
      <p:sp>
        <p:nvSpPr>
          <p:cNvPr id="152" name="Google Shape;152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Our Philosophy: Engineer for Torque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DC94A0-7FB6-827E-47D9-317E772F83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 txBox="1"/>
          <p:nvPr/>
        </p:nvSpPr>
        <p:spPr>
          <a:xfrm>
            <a:off x="571500" y="586539"/>
            <a:ext cx="555069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Design Justification</a:t>
            </a:r>
            <a:endParaRPr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0119AB1-028A-55CE-22D3-FFD6EEFD4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61381"/>
            <a:ext cx="12060212" cy="515551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1542B6-F7D9-466F-529F-6B9A9BD4BB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/>
        </p:nvSpPr>
        <p:spPr>
          <a:xfrm>
            <a:off x="1205388" y="2281237"/>
            <a:ext cx="9781222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Drivetrain Design &amp; Calculation</a:t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5619750" y="3614737"/>
            <a:ext cx="952500" cy="4762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2762250" y="3948112"/>
            <a:ext cx="6667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Translating our philosophy into a calculated, engineered system. (Ref: Optibelt Technical Manual)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319A1F-BD88-4E63-4DD9-3C42C3E445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 txBox="1"/>
          <p:nvPr/>
        </p:nvSpPr>
        <p:spPr>
          <a:xfrm>
            <a:off x="2005012" y="4491037"/>
            <a:ext cx="8181975" cy="547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1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dirty="0"/>
          </a:p>
        </p:txBody>
      </p:sp>
      <p:sp>
        <p:nvSpPr>
          <p:cNvPr id="179" name="Google Shape;179;p21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Step 1: Design Power (P</a:t>
            </a:r>
            <a:r>
              <a:rPr lang="en-US" sz="3000" baseline="-25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300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 &amp; Belt Profile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96B059-F985-5609-7FF5-64DDF0B61456}"/>
              </a:ext>
            </a:extLst>
          </p:cNvPr>
          <p:cNvSpPr txBox="1"/>
          <p:nvPr/>
        </p:nvSpPr>
        <p:spPr>
          <a:xfrm>
            <a:off x="412520" y="1336119"/>
            <a:ext cx="5302638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lang="en-US" b="1" i="1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Service Factor of 1.6</a:t>
            </a:r>
            <a:r>
              <a:rPr lang="en-US" i="1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is selected for a heavy-duty, 16+ hour operation with shock loads (per </a:t>
            </a:r>
            <a:r>
              <a:rPr lang="en-US" i="1" dirty="0" err="1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Optibelt</a:t>
            </a:r>
            <a:r>
              <a:rPr lang="en-US" i="1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Table 23).</a:t>
            </a:r>
          </a:p>
          <a:p>
            <a:endParaRPr lang="en-US" i="1" dirty="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  <a:p>
            <a:r>
              <a:rPr lang="en-US" i="1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Requirement: 7.5 kW Electric motor</a:t>
            </a:r>
          </a:p>
          <a:p>
            <a:endParaRPr lang="en-US" i="1" dirty="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  <a:p>
            <a:r>
              <a:rPr lang="en-US" i="1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As per the </a:t>
            </a:r>
            <a:r>
              <a:rPr lang="en-US" i="1" dirty="0" err="1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Optibelt</a:t>
            </a:r>
            <a:r>
              <a:rPr lang="en-US" i="1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catalogue, SPZ V belts are used.</a:t>
            </a:r>
          </a:p>
          <a:p>
            <a:r>
              <a:rPr lang="en-US" i="1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(Design power 7.5*1.6= 12 kW)</a:t>
            </a:r>
          </a:p>
          <a:p>
            <a:endParaRPr lang="en-US" i="1" dirty="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  <a:p>
            <a:endParaRPr lang="en-US" i="1" dirty="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  <a:p>
            <a:endParaRPr lang="en-US" i="1" dirty="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  <a:p>
            <a:endParaRPr lang="en-US" i="1" dirty="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  <a:p>
            <a:endParaRPr lang="en-US" i="1" dirty="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  <a:p>
            <a:endParaRPr lang="en-US" i="1" dirty="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  <a:p>
            <a:endParaRPr lang="en-US" i="1" dirty="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  <a:p>
            <a:endParaRPr lang="en-US" i="1" dirty="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  <a:p>
            <a:endParaRPr lang="en-US" i="1" dirty="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  <a:p>
            <a:endParaRPr lang="en-US" i="1" dirty="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  <a:p>
            <a:endParaRPr lang="en-US" i="1" dirty="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  <a:p>
            <a:endParaRPr lang="en-US" i="1" dirty="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D77AFB-A4FF-2420-D418-D143D5637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389" y="2075538"/>
            <a:ext cx="5524822" cy="434093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0B224F-CB2E-BAE4-D89C-BE531867BB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DCD54D6-3900-AD84-F3AB-CB46F1172BA1}"/>
                  </a:ext>
                </a:extLst>
              </p14:cNvPr>
              <p14:cNvContentPartPr/>
              <p14:nvPr/>
            </p14:nvContentPartPr>
            <p14:xfrm>
              <a:off x="1661690" y="4306188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DCD54D6-3900-AD84-F3AB-CB46F1172BA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55570" y="4300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DACA2FD-36B5-A802-A67A-93D50B6E4CDA}"/>
                  </a:ext>
                </a:extLst>
              </p14:cNvPr>
              <p14:cNvContentPartPr/>
              <p14:nvPr/>
            </p14:nvContentPartPr>
            <p14:xfrm>
              <a:off x="3037970" y="3843948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DACA2FD-36B5-A802-A67A-93D50B6E4CD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31850" y="383782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8CEAAF0-47DA-1D1E-D005-F992882F14BD}"/>
                  </a:ext>
                </a:extLst>
              </p14:cNvPr>
              <p14:cNvContentPartPr/>
              <p14:nvPr/>
            </p14:nvContentPartPr>
            <p14:xfrm>
              <a:off x="12604610" y="2870868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8CEAAF0-47DA-1D1E-D005-F992882F14B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598490" y="286474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FC21493-C46C-3D33-60B5-38C740C5EA63}"/>
                  </a:ext>
                </a:extLst>
              </p14:cNvPr>
              <p14:cNvContentPartPr/>
              <p14:nvPr/>
            </p14:nvContentPartPr>
            <p14:xfrm>
              <a:off x="-206710" y="3746141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FC21493-C46C-3D33-60B5-38C740C5EA6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212830" y="374002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BB3142F-3F77-3904-8166-20A862A683C1}"/>
                  </a:ext>
                </a:extLst>
              </p14:cNvPr>
              <p14:cNvContentPartPr/>
              <p14:nvPr/>
            </p14:nvContentPartPr>
            <p14:xfrm>
              <a:off x="-206710" y="3746141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BB3142F-3F77-3904-8166-20A862A683C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212830" y="3740021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391C5443-567E-E4A6-2599-F0979C89D15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2520" y="2997691"/>
            <a:ext cx="5305519" cy="337481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5F97F8E-3408-5271-7697-7E5E7839D82B}"/>
                  </a:ext>
                </a:extLst>
              </p14:cNvPr>
              <p14:cNvContentPartPr/>
              <p14:nvPr/>
            </p14:nvContentPartPr>
            <p14:xfrm>
              <a:off x="2526410" y="3252468"/>
              <a:ext cx="720" cy="27061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5F97F8E-3408-5271-7697-7E5E7839D82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14170" y="3246348"/>
                <a:ext cx="25200" cy="271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61B595A-0658-BB64-641B-0B7E5BB4B3AC}"/>
                  </a:ext>
                </a:extLst>
              </p14:cNvPr>
              <p14:cNvContentPartPr/>
              <p14:nvPr/>
            </p14:nvContentPartPr>
            <p14:xfrm>
              <a:off x="756650" y="3864108"/>
              <a:ext cx="1986840" cy="100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61B595A-0658-BB64-641B-0B7E5BB4B3A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50530" y="3682668"/>
                <a:ext cx="1999080" cy="352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5" name="Google Shape;185;p22"/>
          <p:cNvGraphicFramePr/>
          <p:nvPr>
            <p:extLst>
              <p:ext uri="{D42A27DB-BD31-4B8C-83A1-F6EECF244321}">
                <p14:modId xmlns:p14="http://schemas.microsoft.com/office/powerpoint/2010/main" val="310168245"/>
              </p:ext>
            </p:extLst>
          </p:nvPr>
        </p:nvGraphicFramePr>
        <p:xfrm>
          <a:off x="571500" y="1762125"/>
          <a:ext cx="11049000" cy="4286275"/>
        </p:xfrm>
        <a:graphic>
          <a:graphicData uri="http://schemas.openxmlformats.org/drawingml/2006/table">
            <a:tbl>
              <a:tblPr firstRow="1" bandRow="1">
                <a:noFill/>
                <a:tableStyleId>{73FFCA73-8464-4DC1-9F8D-AAE230CF34E9}</a:tableStyleId>
              </a:tblPr>
              <a:tblGrid>
                <a:gridCol w="275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E7E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Parameter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E5E7E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Symbol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E7E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E7E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Motor Speed (n₁)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baseline="0" dirty="0">
                          <a:latin typeface="Lato"/>
                          <a:ea typeface="Lato"/>
                          <a:cs typeface="Lato"/>
                          <a:sym typeface="Lato"/>
                        </a:rPr>
                        <a:t>n</a:t>
                      </a:r>
                      <a:r>
                        <a:rPr lang="en-US" sz="1350" b="0" i="0" u="none" strike="noStrike" cap="none" baseline="-25000" dirty="0"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baseline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2920 RPM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From SEVA-tec motor specs.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Target Cutter Speed (n₂)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n</a:t>
                      </a:r>
                      <a:r>
                        <a:rPr lang="en-US" sz="1350" b="0" i="0" u="none" strike="noStrike" cap="none" baseline="-25000" dirty="0"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1460 RPM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Project requirement.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Target Gear Ratio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latin typeface="Lato"/>
                          <a:ea typeface="Lato"/>
                          <a:cs typeface="Lato"/>
                          <a:sym typeface="Lato"/>
                        </a:rPr>
                        <a:t>i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2.0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-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Small Pulley (Motor)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latin typeface="Lato"/>
                          <a:ea typeface="Lato"/>
                          <a:cs typeface="Lato"/>
                          <a:sym typeface="Lato"/>
                        </a:rPr>
                        <a:t>d</a:t>
                      </a:r>
                      <a:r>
                        <a:rPr lang="en-US" sz="1350" b="0" i="0" u="none" strike="noStrike" cap="none" baseline="-25000" dirty="0" err="1">
                          <a:latin typeface="Lato"/>
                          <a:ea typeface="Lato"/>
                          <a:cs typeface="Lato"/>
                          <a:sym typeface="Lato"/>
                        </a:rPr>
                        <a:t>dk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106 mm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Standard SPZ Taper-Lock size.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Large Pulley (Cutter)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latin typeface="Lato"/>
                          <a:ea typeface="Lato"/>
                          <a:cs typeface="Lato"/>
                          <a:sym typeface="Lato"/>
                        </a:rPr>
                        <a:t>d</a:t>
                      </a:r>
                      <a:r>
                        <a:rPr lang="en-US" sz="1350" b="0" i="0" u="none" strike="noStrike" cap="none" baseline="-25000" dirty="0" err="1">
                          <a:latin typeface="Lato"/>
                          <a:ea typeface="Lato"/>
                          <a:cs typeface="Lato"/>
                          <a:sym typeface="Lato"/>
                        </a:rPr>
                        <a:t>dg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212 mm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Standard SPZ Taper-Lock size.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Std. Belt Length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latin typeface="Lato"/>
                          <a:ea typeface="Lato"/>
                          <a:cs typeface="Lato"/>
                          <a:sym typeface="Lato"/>
                        </a:rPr>
                        <a:t>L</a:t>
                      </a:r>
                      <a:r>
                        <a:rPr lang="en-US" sz="1350" b="0" i="0" u="none" strike="noStrike" cap="none" baseline="-25000" dirty="0" err="1">
                          <a:latin typeface="Lato"/>
                          <a:ea typeface="Lato"/>
                          <a:cs typeface="Lato"/>
                          <a:sym typeface="Lato"/>
                        </a:rPr>
                        <a:t>dst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1500 mm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Selected for standard center distance= 497.6 mm (in range).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6" name="Google Shape;186;p22"/>
          <p:cNvSpPr/>
          <p:nvPr/>
        </p:nvSpPr>
        <p:spPr>
          <a:xfrm>
            <a:off x="571500" y="2386012"/>
            <a:ext cx="2756296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3327796" y="2386012"/>
            <a:ext cx="1507628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4835425" y="2386012"/>
            <a:ext cx="154305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6378475" y="2386012"/>
            <a:ext cx="5242024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571500" y="2995612"/>
            <a:ext cx="2756296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3327796" y="2995612"/>
            <a:ext cx="1507628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4835425" y="2995612"/>
            <a:ext cx="154305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2"/>
          <p:cNvSpPr/>
          <p:nvPr/>
        </p:nvSpPr>
        <p:spPr>
          <a:xfrm>
            <a:off x="6378475" y="2995612"/>
            <a:ext cx="5242024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2"/>
          <p:cNvSpPr/>
          <p:nvPr/>
        </p:nvSpPr>
        <p:spPr>
          <a:xfrm>
            <a:off x="571500" y="3605212"/>
            <a:ext cx="2756296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3327796" y="3605212"/>
            <a:ext cx="1507628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4835425" y="3605212"/>
            <a:ext cx="154305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6378475" y="3605212"/>
            <a:ext cx="5242024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571500" y="4214812"/>
            <a:ext cx="2756296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3327796" y="4214812"/>
            <a:ext cx="1507628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4835425" y="4214812"/>
            <a:ext cx="154305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6378475" y="4214812"/>
            <a:ext cx="5242024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571500" y="4824412"/>
            <a:ext cx="2756296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3327796" y="4824412"/>
            <a:ext cx="1507628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835425" y="4824412"/>
            <a:ext cx="154305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6378475" y="4824412"/>
            <a:ext cx="5242024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571500" y="5434012"/>
            <a:ext cx="2756296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3327796" y="5434012"/>
            <a:ext cx="1507628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4835425" y="5434012"/>
            <a:ext cx="154305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6378475" y="5434012"/>
            <a:ext cx="5242024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Step 2: Pulleys, Belt Length &amp; Ratios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48AE80-1782-C2F7-FCA0-AF72FCDA75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6" name="Google Shape;216;p23"/>
          <p:cNvGraphicFramePr/>
          <p:nvPr>
            <p:extLst>
              <p:ext uri="{D42A27DB-BD31-4B8C-83A1-F6EECF244321}">
                <p14:modId xmlns:p14="http://schemas.microsoft.com/office/powerpoint/2010/main" val="1666641991"/>
              </p:ext>
            </p:extLst>
          </p:nvPr>
        </p:nvGraphicFramePr>
        <p:xfrm>
          <a:off x="571500" y="1376362"/>
          <a:ext cx="11049000" cy="5057850"/>
        </p:xfrm>
        <a:graphic>
          <a:graphicData uri="http://schemas.openxmlformats.org/drawingml/2006/table">
            <a:tbl>
              <a:tblPr firstRow="1" bandRow="1">
                <a:noFill/>
                <a:tableStyleId>{73FFCA73-8464-4DC1-9F8D-AAE230CF34E9}</a:tableStyleId>
              </a:tblPr>
              <a:tblGrid>
                <a:gridCol w="204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4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2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E7E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Parameter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E7E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Symbol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E7E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E7E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Belt Speed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v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16.2 m/s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PASSED. (Limit: 42 m/s for SPZ)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Flex Rate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f</a:t>
                      </a:r>
                      <a:r>
                        <a:rPr lang="en-US" sz="1350" b="0" i="0" u="none" strike="noStrike" cap="none" baseline="-25000" dirty="0">
                          <a:latin typeface="Lato"/>
                          <a:ea typeface="Lato"/>
                          <a:cs typeface="Lato"/>
                          <a:sym typeface="Lato"/>
                        </a:rPr>
                        <a:t>b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21.6 Hz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PASSED. (Limit: 100 Hz)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Nominal Power / Belt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P</a:t>
                      </a:r>
                      <a:r>
                        <a:rPr lang="en-US" sz="1350" b="0" i="0" u="none" strike="noStrike" cap="none" baseline="-25000" dirty="0">
                          <a:latin typeface="Lato"/>
                          <a:ea typeface="Lato"/>
                          <a:cs typeface="Lato"/>
                          <a:sym typeface="Lato"/>
                        </a:rPr>
                        <a:t>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4.8 kW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Optibelt Table 41 (SPZ, 106mm, 2920rpm)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Correction Factors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r>
                        <a:rPr lang="en-US" sz="1350" b="0" i="0" u="none" strike="noStrike" cap="none" baseline="-25000" dirty="0"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r>
                        <a:rPr lang="en-US" sz="1350" b="0" i="0" u="none" strike="noStrike" cap="none" baseline="0" dirty="0">
                          <a:latin typeface="Lato"/>
                          <a:ea typeface="Lato"/>
                          <a:cs typeface="Lato"/>
                          <a:sym typeface="Lato"/>
                        </a:rPr>
                        <a:t>,c</a:t>
                      </a:r>
                      <a:r>
                        <a:rPr lang="en-US" sz="1350" b="0" i="0" u="none" strike="noStrike" cap="none" baseline="-25000" dirty="0"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0.99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From the catalogue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2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Calculated Belts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z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2.57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-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2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Final Selection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latin typeface="Lato"/>
                          <a:ea typeface="Lato"/>
                          <a:cs typeface="Lato"/>
                          <a:sym typeface="Lato"/>
                        </a:rPr>
                        <a:t>z</a:t>
                      </a:r>
                      <a:r>
                        <a:rPr lang="en-US" sz="1350" b="0" i="0" u="none" strike="noStrike" cap="none" baseline="-25000" dirty="0" err="1">
                          <a:latin typeface="Lato"/>
                          <a:ea typeface="Lato"/>
                          <a:cs typeface="Lato"/>
                          <a:sym typeface="Lato"/>
                        </a:rPr>
                        <a:t>dst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3 Belts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Always round up. (SPZ 1500)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7" name="Google Shape;217;p23"/>
          <p:cNvSpPr/>
          <p:nvPr/>
        </p:nvSpPr>
        <p:spPr>
          <a:xfrm>
            <a:off x="571500" y="2000250"/>
            <a:ext cx="204608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2617589" y="2000250"/>
            <a:ext cx="157341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4191000" y="2000250"/>
            <a:ext cx="108451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5275510" y="2000250"/>
            <a:ext cx="634498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571500" y="2867025"/>
            <a:ext cx="204608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2617589" y="2867025"/>
            <a:ext cx="157341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4191000" y="2867025"/>
            <a:ext cx="108451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5275510" y="2867025"/>
            <a:ext cx="634498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571500" y="3476625"/>
            <a:ext cx="204608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2617589" y="3476625"/>
            <a:ext cx="157341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4191000" y="3476625"/>
            <a:ext cx="108451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5275510" y="3476625"/>
            <a:ext cx="634498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571500" y="4343400"/>
            <a:ext cx="204608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2617589" y="4343400"/>
            <a:ext cx="157341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4191000" y="4343400"/>
            <a:ext cx="108451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5275510" y="4343400"/>
            <a:ext cx="634498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571500" y="5210175"/>
            <a:ext cx="204608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2617589" y="5210175"/>
            <a:ext cx="157341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4191000" y="5210175"/>
            <a:ext cx="108451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5275510" y="5210175"/>
            <a:ext cx="634498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571500" y="5819775"/>
            <a:ext cx="204608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2617589" y="5819775"/>
            <a:ext cx="157341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4191000" y="5819775"/>
            <a:ext cx="108451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275510" y="5819775"/>
            <a:ext cx="634498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571500" y="423862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Step 3: Number of Belts (z) &amp; Sanity Checks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53A88E-5411-C7DF-25A1-060989FC05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7" name="Google Shape;247;p24"/>
          <p:cNvGraphicFramePr/>
          <p:nvPr>
            <p:extLst>
              <p:ext uri="{D42A27DB-BD31-4B8C-83A1-F6EECF244321}">
                <p14:modId xmlns:p14="http://schemas.microsoft.com/office/powerpoint/2010/main" val="574376539"/>
              </p:ext>
            </p:extLst>
          </p:nvPr>
        </p:nvGraphicFramePr>
        <p:xfrm>
          <a:off x="571500" y="2371725"/>
          <a:ext cx="11048975" cy="3067000"/>
        </p:xfrm>
        <a:graphic>
          <a:graphicData uri="http://schemas.openxmlformats.org/drawingml/2006/table">
            <a:tbl>
              <a:tblPr firstRow="1" bandRow="1">
                <a:noFill/>
                <a:tableStyleId>{73FFCA73-8464-4DC1-9F8D-AAE230CF34E9}</a:tableStyleId>
              </a:tblPr>
              <a:tblGrid>
                <a:gridCol w="213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E7E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Parameter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E7E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Symbol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E7E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E7E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Design Requirement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latin typeface="Lato"/>
                          <a:ea typeface="Lato"/>
                          <a:cs typeface="Lato"/>
                          <a:sym typeface="Lato"/>
                        </a:rPr>
                        <a:t>V</a:t>
                      </a:r>
                      <a:r>
                        <a:rPr lang="en-US" sz="1350" b="0" i="0" u="none" strike="noStrike" cap="none" baseline="-25000" dirty="0" err="1"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&gt; 25 m/s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Minimum tip speed for effective chip ejection (Ref: </a:t>
                      </a:r>
                      <a:r>
                        <a:rPr lang="en-US" sz="1350" b="0" i="0" u="none" strike="noStrike" cap="none" dirty="0" err="1">
                          <a:latin typeface="Lato"/>
                          <a:ea typeface="Lato"/>
                          <a:cs typeface="Lato"/>
                          <a:sym typeface="Lato"/>
                        </a:rPr>
                        <a:t>Reczulski</a:t>
                      </a: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, 2015).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Min. Diameter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latin typeface="Lato"/>
                          <a:ea typeface="Lato"/>
                          <a:cs typeface="Lato"/>
                          <a:sym typeface="Lato"/>
                        </a:rPr>
                        <a:t>D</a:t>
                      </a:r>
                      <a:r>
                        <a:rPr lang="en-US" sz="1350" b="0" i="0" u="none" strike="noStrike" cap="none" baseline="-25000" dirty="0" err="1">
                          <a:latin typeface="Lato"/>
                          <a:ea typeface="Lato"/>
                          <a:cs typeface="Lato"/>
                          <a:sym typeface="Lato"/>
                        </a:rPr>
                        <a:t>min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327 mm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Using the given equations.</a:t>
                      </a:r>
                      <a:endParaRPr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Selected Diameter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latin typeface="Lato"/>
                          <a:ea typeface="Lato"/>
                          <a:cs typeface="Lato"/>
                          <a:sym typeface="Lato"/>
                        </a:rPr>
                        <a:t>D</a:t>
                      </a:r>
                      <a:r>
                        <a:rPr lang="en-US" sz="1350" b="0" i="0" u="none" strike="noStrike" cap="none" baseline="-25000" dirty="0" err="1">
                          <a:latin typeface="Lato"/>
                          <a:ea typeface="Lato"/>
                          <a:cs typeface="Lato"/>
                          <a:sym typeface="Lato"/>
                        </a:rPr>
                        <a:t>dst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400 mm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Selected for higher inertia (flywheel effect).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Final Tip Speed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latin typeface="Lato"/>
                          <a:ea typeface="Lato"/>
                          <a:cs typeface="Lato"/>
                          <a:sym typeface="Lato"/>
                        </a:rPr>
                        <a:t>V</a:t>
                      </a:r>
                      <a:r>
                        <a:rPr lang="en-US" sz="1350" b="0" i="0" u="none" strike="noStrike" cap="none" baseline="-25000" dirty="0" err="1"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30.58 m/s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PASSED. 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8" name="Google Shape;248;p24"/>
          <p:cNvSpPr/>
          <p:nvPr/>
        </p:nvSpPr>
        <p:spPr>
          <a:xfrm>
            <a:off x="571500" y="2995612"/>
            <a:ext cx="2134195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2705695" y="2995612"/>
            <a:ext cx="181763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4523333" y="2995612"/>
            <a:ext cx="126622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5789562" y="2995612"/>
            <a:ext cx="583093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571500" y="3605212"/>
            <a:ext cx="2134195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2705695" y="3605212"/>
            <a:ext cx="181763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4523333" y="3605212"/>
            <a:ext cx="126622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5789562" y="3605212"/>
            <a:ext cx="583093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571500" y="4214812"/>
            <a:ext cx="2134195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2705695" y="4214812"/>
            <a:ext cx="181763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4523333" y="4214812"/>
            <a:ext cx="126622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5789562" y="4214812"/>
            <a:ext cx="583093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571500" y="4824412"/>
            <a:ext cx="2134195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2705695" y="4824412"/>
            <a:ext cx="181763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4523333" y="4824412"/>
            <a:ext cx="126622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4"/>
          <p:cNvSpPr/>
          <p:nvPr/>
        </p:nvSpPr>
        <p:spPr>
          <a:xfrm>
            <a:off x="5789562" y="4824412"/>
            <a:ext cx="583093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Step 4: Cutter Disc Sizing (Tip Speed)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0AEB8A-EBD3-C81B-FD7A-4F0D6778AA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0" name="Google Shape;270;p25"/>
          <p:cNvGraphicFramePr/>
          <p:nvPr>
            <p:extLst>
              <p:ext uri="{D42A27DB-BD31-4B8C-83A1-F6EECF244321}">
                <p14:modId xmlns:p14="http://schemas.microsoft.com/office/powerpoint/2010/main" val="2607910016"/>
              </p:ext>
            </p:extLst>
          </p:nvPr>
        </p:nvGraphicFramePr>
        <p:xfrm>
          <a:off x="571500" y="2066925"/>
          <a:ext cx="11049000" cy="3676650"/>
        </p:xfrm>
        <a:graphic>
          <a:graphicData uri="http://schemas.openxmlformats.org/drawingml/2006/table">
            <a:tbl>
              <a:tblPr firstRow="1" bandRow="1">
                <a:noFill/>
                <a:tableStyleId>{73FFCA73-8464-4DC1-9F8D-AAE230CF34E9}</a:tableStyleId>
              </a:tblPr>
              <a:tblGrid>
                <a:gridCol w="287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E7E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Parameter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E7E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Symbol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E7E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E7E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Max. Shaft Load (from Step 3)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S</a:t>
                      </a:r>
                      <a:r>
                        <a:rPr lang="en-US" sz="1350" b="0" i="0" u="none" strike="noStrike" cap="none" baseline="-25000" dirty="0">
                          <a:latin typeface="Lato"/>
                          <a:ea typeface="Lato"/>
                          <a:cs typeface="Lato"/>
                          <a:sym typeface="Lato"/>
                        </a:rPr>
                        <a:t>max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1158 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This is the peak bending force F from the belts.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Torsional Moment (Torque)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M</a:t>
                      </a:r>
                      <a:r>
                        <a:rPr lang="en-US" sz="1350" b="0" i="0" u="none" strike="noStrike" cap="none" baseline="-25000" dirty="0">
                          <a:latin typeface="Lato"/>
                          <a:ea typeface="Lato"/>
                          <a:cs typeface="Lato"/>
                          <a:sym typeface="Lato"/>
                        </a:rPr>
                        <a:t>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49.2 Nm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-</a:t>
                      </a:r>
                      <a:endParaRPr lang="fi-FI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Assumed Overhang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60 mm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Assumed distance from bearing to pulley center.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Bending Moment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M</a:t>
                      </a:r>
                      <a:r>
                        <a:rPr lang="en-US" sz="1350" b="0" i="0" u="none" strike="noStrike" cap="none" baseline="-25000" dirty="0">
                          <a:latin typeface="Lato"/>
                          <a:ea typeface="Lato"/>
                          <a:cs typeface="Lato"/>
                          <a:sym typeface="Lato"/>
                        </a:rPr>
                        <a:t>b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69.5 Nm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-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Equivalent Torque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latin typeface="Lato"/>
                          <a:ea typeface="Lato"/>
                          <a:cs typeface="Lato"/>
                          <a:sym typeface="Lato"/>
                        </a:rPr>
                        <a:t>T</a:t>
                      </a:r>
                      <a:r>
                        <a:rPr lang="en-US" sz="1350" b="0" i="0" u="none" strike="noStrike" cap="none" baseline="-25000" dirty="0" err="1">
                          <a:latin typeface="Lato"/>
                          <a:ea typeface="Lato"/>
                          <a:cs typeface="Lato"/>
                          <a:sym typeface="Lato"/>
                        </a:rPr>
                        <a:t>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85.15 Nm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Combines both loads.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1" name="Google Shape;271;p25"/>
          <p:cNvSpPr/>
          <p:nvPr/>
        </p:nvSpPr>
        <p:spPr>
          <a:xfrm>
            <a:off x="571500" y="2690812"/>
            <a:ext cx="2879526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3451026" y="2690812"/>
            <a:ext cx="2076152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5527178" y="2690812"/>
            <a:ext cx="1293614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6820792" y="2690812"/>
            <a:ext cx="479970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571500" y="3300412"/>
            <a:ext cx="2879526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3451026" y="3300412"/>
            <a:ext cx="2076152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5527178" y="3300412"/>
            <a:ext cx="1293614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6820792" y="3300412"/>
            <a:ext cx="479970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571500" y="3910012"/>
            <a:ext cx="2879526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3451026" y="3910012"/>
            <a:ext cx="2076152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5527178" y="3910012"/>
            <a:ext cx="1293614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6820792" y="3910012"/>
            <a:ext cx="479970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571500" y="4519612"/>
            <a:ext cx="2879526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3451026" y="4519612"/>
            <a:ext cx="2076152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5527178" y="4519612"/>
            <a:ext cx="1293614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6820792" y="4519612"/>
            <a:ext cx="479970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571500" y="5129212"/>
            <a:ext cx="2879526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3451026" y="5129212"/>
            <a:ext cx="2076152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5527178" y="5129212"/>
            <a:ext cx="1293614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6820792" y="5129212"/>
            <a:ext cx="479970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 txBox="1"/>
          <p:nvPr/>
        </p:nvSpPr>
        <p:spPr>
          <a:xfrm>
            <a:off x="571500" y="571500"/>
            <a:ext cx="11601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Step 5: Shaft Load Analysis (Moments)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ECDD88-F9F1-96BF-1561-7A4787422C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7" name="Google Shape;297;p26"/>
          <p:cNvGraphicFramePr/>
          <p:nvPr>
            <p:extLst>
              <p:ext uri="{D42A27DB-BD31-4B8C-83A1-F6EECF244321}">
                <p14:modId xmlns:p14="http://schemas.microsoft.com/office/powerpoint/2010/main" val="3515631001"/>
              </p:ext>
            </p:extLst>
          </p:nvPr>
        </p:nvGraphicFramePr>
        <p:xfrm>
          <a:off x="571500" y="1119187"/>
          <a:ext cx="11049000" cy="5572175"/>
        </p:xfrm>
        <a:graphic>
          <a:graphicData uri="http://schemas.openxmlformats.org/drawingml/2006/table">
            <a:tbl>
              <a:tblPr firstRow="1" bandRow="1">
                <a:noFill/>
                <a:tableStyleId>{73FFCA73-8464-4DC1-9F8D-AAE230CF34E9}</a:tableStyleId>
              </a:tblPr>
              <a:tblGrid>
                <a:gridCol w="212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3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6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E7E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Parameter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E7E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Symbol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E7E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E7E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6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Material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C45 Steel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Good strength and machinability.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6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Shear Yield Strength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latin typeface="GreekC" panose="00000400000000000000" pitchFamily="2" charset="0"/>
                          <a:ea typeface="Lato"/>
                          <a:cs typeface="GreekC" panose="00000400000000000000" pitchFamily="2" charset="0"/>
                          <a:sym typeface="Lato"/>
                        </a:rPr>
                        <a:t>t</a:t>
                      </a:r>
                      <a:r>
                        <a:rPr lang="en-US" sz="1350" b="1" i="0" u="none" strike="noStrike" cap="none" baseline="-250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"/>
                        </a:rPr>
                        <a:t>y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~170 MPa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-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6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Factor of Safety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4.0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High value chosen for shock/impact loads.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6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Allowable Shear Stress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latin typeface="GreekC" panose="00000400000000000000" pitchFamily="2" charset="0"/>
                          <a:ea typeface="Lato"/>
                          <a:cs typeface="GreekC" panose="00000400000000000000" pitchFamily="2" charset="0"/>
                          <a:sym typeface="Lato"/>
                        </a:rPr>
                        <a:t>t</a:t>
                      </a:r>
                      <a:r>
                        <a:rPr lang="en-US" sz="1400" b="1" i="0" u="none" strike="noStrike" cap="none" baseline="-250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"/>
                        </a:rPr>
                        <a:t>allow</a:t>
                      </a:r>
                      <a:endParaRPr lang="en-US" b="1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42.5 MPa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-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6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Min. Required Diameter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latin typeface="Lato"/>
                          <a:ea typeface="Lato"/>
                          <a:cs typeface="Lato"/>
                          <a:sym typeface="Lato"/>
                        </a:rPr>
                        <a:t>d</a:t>
                      </a:r>
                      <a:r>
                        <a:rPr lang="en-US" sz="1350" b="0" i="0" u="none" strike="noStrike" cap="none" baseline="-25000" dirty="0" err="1">
                          <a:latin typeface="Lato"/>
                          <a:ea typeface="Lato"/>
                          <a:cs typeface="Lato"/>
                          <a:sym typeface="Lato"/>
                        </a:rPr>
                        <a:t>min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21.7 mm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-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6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Final Selected Diameter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d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35 mm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Standard size, accounts for keyway &amp; shock.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98" name="Google Shape;298;p26"/>
          <p:cNvSpPr/>
          <p:nvPr/>
        </p:nvSpPr>
        <p:spPr>
          <a:xfrm>
            <a:off x="571500" y="1743075"/>
            <a:ext cx="212720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2698700" y="1743075"/>
            <a:ext cx="230505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5003750" y="1743075"/>
            <a:ext cx="118526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6189017" y="1743075"/>
            <a:ext cx="5431482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571500" y="2609850"/>
            <a:ext cx="212720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6"/>
          <p:cNvSpPr/>
          <p:nvPr/>
        </p:nvSpPr>
        <p:spPr>
          <a:xfrm>
            <a:off x="2698700" y="2609850"/>
            <a:ext cx="230505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6"/>
          <p:cNvSpPr/>
          <p:nvPr/>
        </p:nvSpPr>
        <p:spPr>
          <a:xfrm>
            <a:off x="5003750" y="2609850"/>
            <a:ext cx="118526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6189017" y="2609850"/>
            <a:ext cx="5431482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571500" y="3476625"/>
            <a:ext cx="212720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2698700" y="3476625"/>
            <a:ext cx="230505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5003750" y="3476625"/>
            <a:ext cx="118526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6"/>
          <p:cNvSpPr/>
          <p:nvPr/>
        </p:nvSpPr>
        <p:spPr>
          <a:xfrm>
            <a:off x="6189017" y="3476625"/>
            <a:ext cx="5431482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6"/>
          <p:cNvSpPr/>
          <p:nvPr/>
        </p:nvSpPr>
        <p:spPr>
          <a:xfrm>
            <a:off x="571500" y="4086225"/>
            <a:ext cx="212720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6"/>
          <p:cNvSpPr/>
          <p:nvPr/>
        </p:nvSpPr>
        <p:spPr>
          <a:xfrm>
            <a:off x="2698700" y="4086225"/>
            <a:ext cx="230505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5003750" y="4086225"/>
            <a:ext cx="118526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6"/>
          <p:cNvSpPr/>
          <p:nvPr/>
        </p:nvSpPr>
        <p:spPr>
          <a:xfrm>
            <a:off x="6189017" y="4086225"/>
            <a:ext cx="5431482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571500" y="4953000"/>
            <a:ext cx="212720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2698700" y="4953000"/>
            <a:ext cx="230505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6"/>
          <p:cNvSpPr/>
          <p:nvPr/>
        </p:nvSpPr>
        <p:spPr>
          <a:xfrm>
            <a:off x="5003750" y="4953000"/>
            <a:ext cx="118526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6189017" y="4953000"/>
            <a:ext cx="5431482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571500" y="5819775"/>
            <a:ext cx="212720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2698700" y="5819775"/>
            <a:ext cx="230505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6"/>
          <p:cNvSpPr/>
          <p:nvPr/>
        </p:nvSpPr>
        <p:spPr>
          <a:xfrm>
            <a:off x="5003750" y="5819775"/>
            <a:ext cx="118526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6189017" y="5819775"/>
            <a:ext cx="5431482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6"/>
          <p:cNvSpPr txBox="1"/>
          <p:nvPr/>
        </p:nvSpPr>
        <p:spPr>
          <a:xfrm>
            <a:off x="571500" y="166687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Step 6: Shaft Diameter Calculation (d)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E5E515-B3B2-A812-0ACE-7873CDB5E9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8" name="Google Shape;328;p27"/>
          <p:cNvGraphicFramePr/>
          <p:nvPr>
            <p:extLst>
              <p:ext uri="{D42A27DB-BD31-4B8C-83A1-F6EECF244321}">
                <p14:modId xmlns:p14="http://schemas.microsoft.com/office/powerpoint/2010/main" val="200084715"/>
              </p:ext>
            </p:extLst>
          </p:nvPr>
        </p:nvGraphicFramePr>
        <p:xfrm>
          <a:off x="571500" y="1762125"/>
          <a:ext cx="11048975" cy="4286275"/>
        </p:xfrm>
        <a:graphic>
          <a:graphicData uri="http://schemas.openxmlformats.org/drawingml/2006/table">
            <a:tbl>
              <a:tblPr firstRow="1" bandRow="1">
                <a:noFill/>
                <a:tableStyleId>{73FFCA73-8464-4DC1-9F8D-AAE230CF34E9}</a:tableStyleId>
              </a:tblPr>
              <a:tblGrid>
                <a:gridCol w="247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E7E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Parameter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E7E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Symbol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E7E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E7E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Standard Key (DIN 6885)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b*h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10mm x 8mm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For a 35mm shaft.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Allowable Pressure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latin typeface="Lato"/>
                          <a:ea typeface="Lato"/>
                          <a:cs typeface="Lato"/>
                          <a:sym typeface="Lato"/>
                        </a:rPr>
                        <a:t>p</a:t>
                      </a:r>
                      <a:r>
                        <a:rPr lang="en-US" sz="1350" b="0" i="0" u="none" strike="noStrike" cap="none" baseline="-25000" dirty="0" err="1">
                          <a:latin typeface="Lato"/>
                          <a:ea typeface="Lato"/>
                          <a:cs typeface="Lato"/>
                          <a:sym typeface="Lato"/>
                        </a:rPr>
                        <a:t>allow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60 MPa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Conservative value for shock loads.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Shaft Keyway Depth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t</a:t>
                      </a:r>
                      <a:r>
                        <a:rPr lang="en-US" sz="1350" b="0" i="0" u="none" strike="noStrike" cap="none" baseline="-25000" dirty="0"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5 mm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Standard for 8mm high key.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Min. Length (Pressure)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latin typeface="Lato"/>
                          <a:ea typeface="Lato"/>
                          <a:cs typeface="Lato"/>
                          <a:sym typeface="Lato"/>
                        </a:rPr>
                        <a:t>l</a:t>
                      </a:r>
                      <a:r>
                        <a:rPr lang="en-US" sz="1350" b="0" i="0" u="none" strike="noStrike" cap="none" baseline="-25000" dirty="0" err="1">
                          <a:latin typeface="Lato"/>
                          <a:ea typeface="Lato"/>
                          <a:cs typeface="Lato"/>
                          <a:sym typeface="Lato"/>
                        </a:rPr>
                        <a:t>p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15.87 mm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-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Min. Length (Shear)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50" b="0" i="0" u="none" strike="noStrike" cap="none" dirty="0" err="1">
                          <a:latin typeface="Lato"/>
                          <a:ea typeface="Lato"/>
                          <a:cs typeface="Lato"/>
                          <a:sym typeface="Lato"/>
                        </a:rPr>
                        <a:t>l</a:t>
                      </a:r>
                      <a:r>
                        <a:rPr lang="en-US" sz="1400" b="1" i="0" u="none" strike="noStrike" cap="none" dirty="0" err="1">
                          <a:latin typeface="GreekC" panose="00000400000000000000" pitchFamily="2" charset="0"/>
                          <a:ea typeface="Lato"/>
                          <a:cs typeface="GreekC" panose="00000400000000000000" pitchFamily="2" charset="0"/>
                          <a:sym typeface="Lato"/>
                        </a:rPr>
                        <a:t>t</a:t>
                      </a:r>
                      <a:endParaRPr lang="en-US" b="1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4.76 mm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Shear is not the limiting factor.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Final Key Selection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10x8x25 mm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25mm is a standard length &gt; 15.87mm.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29" name="Google Shape;329;p27"/>
          <p:cNvSpPr/>
          <p:nvPr/>
        </p:nvSpPr>
        <p:spPr>
          <a:xfrm>
            <a:off x="571500" y="2386012"/>
            <a:ext cx="247903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7"/>
          <p:cNvSpPr/>
          <p:nvPr/>
        </p:nvSpPr>
        <p:spPr>
          <a:xfrm>
            <a:off x="3050530" y="2386012"/>
            <a:ext cx="223420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7"/>
          <p:cNvSpPr/>
          <p:nvPr/>
        </p:nvSpPr>
        <p:spPr>
          <a:xfrm>
            <a:off x="5284737" y="2386012"/>
            <a:ext cx="157102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7"/>
          <p:cNvSpPr/>
          <p:nvPr/>
        </p:nvSpPr>
        <p:spPr>
          <a:xfrm>
            <a:off x="6855767" y="2386012"/>
            <a:ext cx="4764732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7"/>
          <p:cNvSpPr/>
          <p:nvPr/>
        </p:nvSpPr>
        <p:spPr>
          <a:xfrm>
            <a:off x="571500" y="2995612"/>
            <a:ext cx="247903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7"/>
          <p:cNvSpPr/>
          <p:nvPr/>
        </p:nvSpPr>
        <p:spPr>
          <a:xfrm>
            <a:off x="3050530" y="2995612"/>
            <a:ext cx="223420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7"/>
          <p:cNvSpPr/>
          <p:nvPr/>
        </p:nvSpPr>
        <p:spPr>
          <a:xfrm>
            <a:off x="5284737" y="2995612"/>
            <a:ext cx="157102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7"/>
          <p:cNvSpPr/>
          <p:nvPr/>
        </p:nvSpPr>
        <p:spPr>
          <a:xfrm>
            <a:off x="6855767" y="2995612"/>
            <a:ext cx="4764732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7"/>
          <p:cNvSpPr/>
          <p:nvPr/>
        </p:nvSpPr>
        <p:spPr>
          <a:xfrm>
            <a:off x="571500" y="3605212"/>
            <a:ext cx="247903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7"/>
          <p:cNvSpPr/>
          <p:nvPr/>
        </p:nvSpPr>
        <p:spPr>
          <a:xfrm>
            <a:off x="3050530" y="3605212"/>
            <a:ext cx="223420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7"/>
          <p:cNvSpPr/>
          <p:nvPr/>
        </p:nvSpPr>
        <p:spPr>
          <a:xfrm>
            <a:off x="5284737" y="3605212"/>
            <a:ext cx="157102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7"/>
          <p:cNvSpPr/>
          <p:nvPr/>
        </p:nvSpPr>
        <p:spPr>
          <a:xfrm>
            <a:off x="6855767" y="3605212"/>
            <a:ext cx="4764732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7"/>
          <p:cNvSpPr/>
          <p:nvPr/>
        </p:nvSpPr>
        <p:spPr>
          <a:xfrm>
            <a:off x="571500" y="4214812"/>
            <a:ext cx="247903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7"/>
          <p:cNvSpPr/>
          <p:nvPr/>
        </p:nvSpPr>
        <p:spPr>
          <a:xfrm>
            <a:off x="3050530" y="4214812"/>
            <a:ext cx="223420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7"/>
          <p:cNvSpPr/>
          <p:nvPr/>
        </p:nvSpPr>
        <p:spPr>
          <a:xfrm>
            <a:off x="5284737" y="4214812"/>
            <a:ext cx="157102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7"/>
          <p:cNvSpPr/>
          <p:nvPr/>
        </p:nvSpPr>
        <p:spPr>
          <a:xfrm>
            <a:off x="6855767" y="4214812"/>
            <a:ext cx="4764732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7"/>
          <p:cNvSpPr/>
          <p:nvPr/>
        </p:nvSpPr>
        <p:spPr>
          <a:xfrm>
            <a:off x="571500" y="4824412"/>
            <a:ext cx="247903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7"/>
          <p:cNvSpPr/>
          <p:nvPr/>
        </p:nvSpPr>
        <p:spPr>
          <a:xfrm>
            <a:off x="3050530" y="4824412"/>
            <a:ext cx="223420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7"/>
          <p:cNvSpPr/>
          <p:nvPr/>
        </p:nvSpPr>
        <p:spPr>
          <a:xfrm>
            <a:off x="5284737" y="4824412"/>
            <a:ext cx="157102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7"/>
          <p:cNvSpPr/>
          <p:nvPr/>
        </p:nvSpPr>
        <p:spPr>
          <a:xfrm>
            <a:off x="6855767" y="4824412"/>
            <a:ext cx="4764732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7"/>
          <p:cNvSpPr/>
          <p:nvPr/>
        </p:nvSpPr>
        <p:spPr>
          <a:xfrm>
            <a:off x="571500" y="5434012"/>
            <a:ext cx="247903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7"/>
          <p:cNvSpPr/>
          <p:nvPr/>
        </p:nvSpPr>
        <p:spPr>
          <a:xfrm>
            <a:off x="3050530" y="5434012"/>
            <a:ext cx="223420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7"/>
          <p:cNvSpPr/>
          <p:nvPr/>
        </p:nvSpPr>
        <p:spPr>
          <a:xfrm>
            <a:off x="5284737" y="5434012"/>
            <a:ext cx="157102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7"/>
          <p:cNvSpPr/>
          <p:nvPr/>
        </p:nvSpPr>
        <p:spPr>
          <a:xfrm>
            <a:off x="6855767" y="5434012"/>
            <a:ext cx="4764732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Step 7: Keyway Sizing (for 35mm Shaft)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C7A273-E293-BD18-EB68-D8047B1BA3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9" name="Google Shape;359;p28"/>
          <p:cNvGraphicFramePr/>
          <p:nvPr>
            <p:extLst>
              <p:ext uri="{D42A27DB-BD31-4B8C-83A1-F6EECF244321}">
                <p14:modId xmlns:p14="http://schemas.microsoft.com/office/powerpoint/2010/main" val="2536167987"/>
              </p:ext>
            </p:extLst>
          </p:nvPr>
        </p:nvGraphicFramePr>
        <p:xfrm>
          <a:off x="571500" y="1152525"/>
          <a:ext cx="11049000" cy="5505525"/>
        </p:xfrm>
        <a:graphic>
          <a:graphicData uri="http://schemas.openxmlformats.org/drawingml/2006/table">
            <a:tbl>
              <a:tblPr firstRow="1" bandRow="1">
                <a:noFill/>
                <a:tableStyleId>{73FFCA73-8464-4DC1-9F8D-AAE230CF34E9}</a:tableStyleId>
              </a:tblPr>
              <a:tblGrid>
                <a:gridCol w="253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1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1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E7E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Component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E7E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Parameter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E7E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Final Selected 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Motor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Power / Speed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7.5 kW / 2920 RPM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Cutter Disc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Diameter / Speed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400 mm / 1460 RPM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Belt Drive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Type / Quantity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3 x SPZ 1500 V-Belts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Pulleys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Motor / Cutter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106 mm / 212 mm (SPZ)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1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Shaft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Material / Diameter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C45 Steel / 35 mm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1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Key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Type (Cutter)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10mm x 8mm x 25mm (Parallel Key)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Loads for CAD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Max. Shaft Load (S</a:t>
                      </a:r>
                      <a:r>
                        <a:rPr lang="en-US" sz="1350" b="0" i="0" u="none" strike="noStrike" cap="none" baseline="-25000" dirty="0"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1158 N (Bending)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1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Loads for CAD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Max. Shaft Torque (M</a:t>
                      </a:r>
                      <a:r>
                        <a:rPr lang="en-US" sz="1350" b="0" i="0" u="none" strike="noStrike" cap="none" baseline="-25000" dirty="0">
                          <a:latin typeface="Lato"/>
                          <a:ea typeface="Lato"/>
                          <a:cs typeface="Lato"/>
                          <a:sym typeface="Lato"/>
                        </a:rPr>
                        <a:t>t</a:t>
                      </a:r>
                      <a:r>
                        <a:rPr lang="en-US" sz="13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49.2 Nm (Torsion)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60" name="Google Shape;360;p28"/>
          <p:cNvSpPr/>
          <p:nvPr/>
        </p:nvSpPr>
        <p:spPr>
          <a:xfrm>
            <a:off x="571500" y="1776412"/>
            <a:ext cx="2533798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8"/>
          <p:cNvSpPr/>
          <p:nvPr/>
        </p:nvSpPr>
        <p:spPr>
          <a:xfrm>
            <a:off x="3105298" y="1776412"/>
            <a:ext cx="3741836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8"/>
          <p:cNvSpPr/>
          <p:nvPr/>
        </p:nvSpPr>
        <p:spPr>
          <a:xfrm>
            <a:off x="6847135" y="1776412"/>
            <a:ext cx="4773364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8"/>
          <p:cNvSpPr/>
          <p:nvPr/>
        </p:nvSpPr>
        <p:spPr>
          <a:xfrm>
            <a:off x="571500" y="2386012"/>
            <a:ext cx="2533798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8"/>
          <p:cNvSpPr/>
          <p:nvPr/>
        </p:nvSpPr>
        <p:spPr>
          <a:xfrm>
            <a:off x="3105298" y="2386012"/>
            <a:ext cx="3741836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8"/>
          <p:cNvSpPr/>
          <p:nvPr/>
        </p:nvSpPr>
        <p:spPr>
          <a:xfrm>
            <a:off x="6847135" y="2386012"/>
            <a:ext cx="4773364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8"/>
          <p:cNvSpPr/>
          <p:nvPr/>
        </p:nvSpPr>
        <p:spPr>
          <a:xfrm>
            <a:off x="571500" y="2995612"/>
            <a:ext cx="2533798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8"/>
          <p:cNvSpPr/>
          <p:nvPr/>
        </p:nvSpPr>
        <p:spPr>
          <a:xfrm>
            <a:off x="3105298" y="2995612"/>
            <a:ext cx="3741836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8"/>
          <p:cNvSpPr/>
          <p:nvPr/>
        </p:nvSpPr>
        <p:spPr>
          <a:xfrm>
            <a:off x="6847135" y="2995612"/>
            <a:ext cx="4773364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8"/>
          <p:cNvSpPr/>
          <p:nvPr/>
        </p:nvSpPr>
        <p:spPr>
          <a:xfrm>
            <a:off x="571500" y="3605212"/>
            <a:ext cx="2533798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8"/>
          <p:cNvSpPr/>
          <p:nvPr/>
        </p:nvSpPr>
        <p:spPr>
          <a:xfrm>
            <a:off x="3105298" y="3605212"/>
            <a:ext cx="3741836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8"/>
          <p:cNvSpPr/>
          <p:nvPr/>
        </p:nvSpPr>
        <p:spPr>
          <a:xfrm>
            <a:off x="6847135" y="3605212"/>
            <a:ext cx="4773364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8"/>
          <p:cNvSpPr/>
          <p:nvPr/>
        </p:nvSpPr>
        <p:spPr>
          <a:xfrm>
            <a:off x="571500" y="4214812"/>
            <a:ext cx="2533798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8"/>
          <p:cNvSpPr/>
          <p:nvPr/>
        </p:nvSpPr>
        <p:spPr>
          <a:xfrm>
            <a:off x="3105298" y="4214812"/>
            <a:ext cx="3741836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8"/>
          <p:cNvSpPr/>
          <p:nvPr/>
        </p:nvSpPr>
        <p:spPr>
          <a:xfrm>
            <a:off x="6847135" y="4214812"/>
            <a:ext cx="4773364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8"/>
          <p:cNvSpPr/>
          <p:nvPr/>
        </p:nvSpPr>
        <p:spPr>
          <a:xfrm>
            <a:off x="571500" y="4824412"/>
            <a:ext cx="2533798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8"/>
          <p:cNvSpPr/>
          <p:nvPr/>
        </p:nvSpPr>
        <p:spPr>
          <a:xfrm>
            <a:off x="3105298" y="4824412"/>
            <a:ext cx="3741836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8"/>
          <p:cNvSpPr/>
          <p:nvPr/>
        </p:nvSpPr>
        <p:spPr>
          <a:xfrm>
            <a:off x="6847135" y="4824412"/>
            <a:ext cx="4773364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8"/>
          <p:cNvSpPr/>
          <p:nvPr/>
        </p:nvSpPr>
        <p:spPr>
          <a:xfrm>
            <a:off x="571500" y="5434012"/>
            <a:ext cx="2533798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8"/>
          <p:cNvSpPr/>
          <p:nvPr/>
        </p:nvSpPr>
        <p:spPr>
          <a:xfrm>
            <a:off x="3105298" y="5434012"/>
            <a:ext cx="3741836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8"/>
          <p:cNvSpPr/>
          <p:nvPr/>
        </p:nvSpPr>
        <p:spPr>
          <a:xfrm>
            <a:off x="6847135" y="5434012"/>
            <a:ext cx="4773364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8"/>
          <p:cNvSpPr/>
          <p:nvPr/>
        </p:nvSpPr>
        <p:spPr>
          <a:xfrm>
            <a:off x="571500" y="6043612"/>
            <a:ext cx="2533798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8"/>
          <p:cNvSpPr/>
          <p:nvPr/>
        </p:nvSpPr>
        <p:spPr>
          <a:xfrm>
            <a:off x="3105298" y="6043612"/>
            <a:ext cx="3741836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8"/>
          <p:cNvSpPr/>
          <p:nvPr/>
        </p:nvSpPr>
        <p:spPr>
          <a:xfrm>
            <a:off x="6847135" y="6043612"/>
            <a:ext cx="4773364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8"/>
          <p:cNvSpPr txBox="1"/>
          <p:nvPr/>
        </p:nvSpPr>
        <p:spPr>
          <a:xfrm>
            <a:off x="571500" y="200025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Calculation Summary: Final Design Values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CD49EF-CE3A-D1B0-2280-59EA497567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9164" y="1306639"/>
            <a:ext cx="1076706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9"/>
          <p:cNvSpPr txBox="1"/>
          <p:nvPr/>
        </p:nvSpPr>
        <p:spPr>
          <a:xfrm>
            <a:off x="6843563" y="1068404"/>
            <a:ext cx="4822658" cy="5297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Our design competes with premium machines (€</a:t>
            </a:r>
            <a:r>
              <a:rPr lang="en-US" sz="1350" i="1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3,0</a:t>
            </a:r>
            <a:r>
              <a:rPr lang="en-US" sz="1350" b="0" i="1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00 - €5,000).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50" i="1" dirty="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50" b="0" i="1" u="none" strike="noStrike" cap="none" dirty="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50" i="1" dirty="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50" b="0" i="1" u="none" strike="noStrike" cap="none" dirty="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50" i="1" dirty="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50" i="1" dirty="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50" i="1" dirty="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50" i="1" dirty="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50" i="1" dirty="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50" i="1" dirty="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50" i="1" dirty="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50" i="1" dirty="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50" i="1" dirty="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50" i="1" dirty="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By manufacturing the chassis/cutter in-house, our component cost will be a fraction of this retail price.</a:t>
            </a:r>
            <a:endParaRPr dirty="0"/>
          </a:p>
        </p:txBody>
      </p:sp>
      <p:sp>
        <p:nvSpPr>
          <p:cNvPr id="392" name="Google Shape;392;p2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Rough Cost Analysis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1CD6BF-2A05-0805-185C-18CFE575A9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150" y="1711374"/>
            <a:ext cx="5302686" cy="346928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12F277-767F-EAD9-E6B7-DB1F8EE8DD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0"/>
          <p:cNvSpPr txBox="1"/>
          <p:nvPr/>
        </p:nvSpPr>
        <p:spPr>
          <a:xfrm>
            <a:off x="2190750" y="223837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3F4F6"/>
                </a:solidFill>
                <a:latin typeface="Lato"/>
                <a:ea typeface="Lato"/>
                <a:cs typeface="Lato"/>
                <a:sym typeface="Lato"/>
              </a:rPr>
              <a:t>Phase 1: Detailed CAD Modeling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Model the 400mm cutter disc, 35mm main shaft, and sheet metal frame.</a:t>
            </a:r>
            <a:endParaRPr/>
          </a:p>
        </p:txBody>
      </p:sp>
      <p:sp>
        <p:nvSpPr>
          <p:cNvPr id="399" name="Google Shape;399;p30"/>
          <p:cNvSpPr txBox="1"/>
          <p:nvPr/>
        </p:nvSpPr>
        <p:spPr>
          <a:xfrm>
            <a:off x="2190750" y="2943225"/>
            <a:ext cx="8191500" cy="704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F3F4F6"/>
                </a:solidFill>
                <a:latin typeface="Lato"/>
                <a:ea typeface="Lato"/>
                <a:cs typeface="Lato"/>
                <a:sym typeface="Lato"/>
              </a:rPr>
              <a:t>Phase 2: Component Sourcing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Download 3D models for the SEVA-tec motor, standard taper-lock pulleys (SPZ 106/212), and bearings (for 35mm shaft).</a:t>
            </a:r>
            <a:endParaRPr dirty="0"/>
          </a:p>
        </p:txBody>
      </p:sp>
      <p:sp>
        <p:nvSpPr>
          <p:cNvPr id="400" name="Google Shape;400;p30"/>
          <p:cNvSpPr txBox="1"/>
          <p:nvPr/>
        </p:nvSpPr>
        <p:spPr>
          <a:xfrm>
            <a:off x="2190750" y="3905250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3F4F6"/>
                </a:solidFill>
                <a:latin typeface="Lato"/>
                <a:ea typeface="Lato"/>
                <a:cs typeface="Lato"/>
                <a:sym typeface="Lato"/>
              </a:rPr>
              <a:t>Phase 3: Analysis &amp; Assembly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Run shaft analysis (FEA) using the </a:t>
            </a:r>
            <a:r>
              <a:rPr lang="en-US" sz="1350" b="1" i="0" u="none" strike="noStrike" cap="none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1158 N</a:t>
            </a: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bending load and </a:t>
            </a:r>
            <a:r>
              <a:rPr lang="en-US" sz="1350" b="1" i="0" u="none" strike="noStrike" cap="none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49.2 Nm</a:t>
            </a: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torque. Confirm bearing selection.</a:t>
            </a:r>
            <a:endParaRPr/>
          </a:p>
        </p:txBody>
      </p:sp>
      <p:sp>
        <p:nvSpPr>
          <p:cNvPr id="401" name="Google Shape;401;p30"/>
          <p:cNvSpPr txBox="1"/>
          <p:nvPr/>
        </p:nvSpPr>
        <p:spPr>
          <a:xfrm>
            <a:off x="2190750" y="4610100"/>
            <a:ext cx="81915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3F4F6"/>
                </a:solidFill>
                <a:latin typeface="Lato"/>
                <a:ea typeface="Lato"/>
                <a:cs typeface="Lato"/>
                <a:sym typeface="Lato"/>
              </a:rPr>
              <a:t>Phase 4: Safety &amp; Finalization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Model all safety guards (belt guard, infeed/outfeed hoppers) and create final manufacturing drawings and report.</a:t>
            </a:r>
            <a:endParaRPr/>
          </a:p>
        </p:txBody>
      </p:sp>
      <p:pic>
        <p:nvPicPr>
          <p:cNvPr id="402" name="Google Shape;402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2860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29908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95287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65772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Plan: Future Work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CDAA1E-4E94-7176-53BD-60F324AAC5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0A597D97-203B-498B-95D3-E90DC961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1" name="Google Shape;411;p31" descr="image.png"/>
          <p:cNvPicPr preferRelativeResize="0"/>
          <p:nvPr/>
        </p:nvPicPr>
        <p:blipFill rotWithShape="1">
          <a:blip r:embed="rId3"/>
          <a:srcRect t="1917" b="22186"/>
          <a:stretch>
            <a:fillRect/>
          </a:stretch>
        </p:blipFill>
        <p:spPr>
          <a:xfrm>
            <a:off x="5537761" y="10"/>
            <a:ext cx="6654240" cy="3383270"/>
          </a:xfrm>
          <a:prstGeom prst="rect">
            <a:avLst/>
          </a:prstGeom>
          <a:noFill/>
        </p:spPr>
      </p:pic>
      <p:pic>
        <p:nvPicPr>
          <p:cNvPr id="2050" name="Picture 2" descr="Is that your friend in the wood chipper, eh?">
            <a:extLst>
              <a:ext uri="{FF2B5EF4-FFF2-40B4-BE49-F238E27FC236}">
                <a16:creationId xmlns:a16="http://schemas.microsoft.com/office/drawing/2014/main" id="{271425F7-403E-B7AC-E954-7A377BEC9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67" r="2" b="31367"/>
          <a:stretch>
            <a:fillRect/>
          </a:stretch>
        </p:blipFill>
        <p:spPr bwMode="auto">
          <a:xfrm>
            <a:off x="5844524" y="3338195"/>
            <a:ext cx="6344428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2057" name="Freeform: Shape 2056">
            <a:extLst>
              <a:ext uri="{FF2B5EF4-FFF2-40B4-BE49-F238E27FC236}">
                <a16:creationId xmlns:a16="http://schemas.microsoft.com/office/drawing/2014/main" id="{6A6EF10E-DF41-4BD3-8EB4-6F646531D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44272" cy="6858000"/>
          </a:xfrm>
          <a:custGeom>
            <a:avLst/>
            <a:gdLst>
              <a:gd name="connsiteX0" fmla="*/ 0 w 6244272"/>
              <a:gd name="connsiteY0" fmla="*/ 0 h 6858000"/>
              <a:gd name="connsiteX1" fmla="*/ 732568 w 6244272"/>
              <a:gd name="connsiteY1" fmla="*/ 0 h 6858000"/>
              <a:gd name="connsiteX2" fmla="*/ 947849 w 6244272"/>
              <a:gd name="connsiteY2" fmla="*/ 0 h 6858000"/>
              <a:gd name="connsiteX3" fmla="*/ 1823619 w 6244272"/>
              <a:gd name="connsiteY3" fmla="*/ 0 h 6858000"/>
              <a:gd name="connsiteX4" fmla="*/ 5235673 w 6244272"/>
              <a:gd name="connsiteY4" fmla="*/ 0 h 6858000"/>
              <a:gd name="connsiteX5" fmla="*/ 4933297 w 6244272"/>
              <a:gd name="connsiteY5" fmla="*/ 110269 h 6858000"/>
              <a:gd name="connsiteX6" fmla="*/ 4976910 w 6244272"/>
              <a:gd name="connsiteY6" fmla="*/ 135168 h 6858000"/>
              <a:gd name="connsiteX7" fmla="*/ 5238580 w 6244272"/>
              <a:gd name="connsiteY7" fmla="*/ 71141 h 6858000"/>
              <a:gd name="connsiteX8" fmla="*/ 5290914 w 6244272"/>
              <a:gd name="connsiteY8" fmla="*/ 88927 h 6858000"/>
              <a:gd name="connsiteX9" fmla="*/ 5264747 w 6244272"/>
              <a:gd name="connsiteY9" fmla="*/ 163625 h 6858000"/>
              <a:gd name="connsiteX10" fmla="*/ 5151357 w 6244272"/>
              <a:gd name="connsiteY10" fmla="*/ 192082 h 6858000"/>
              <a:gd name="connsiteX11" fmla="*/ 4974002 w 6244272"/>
              <a:gd name="connsiteY11" fmla="*/ 373491 h 6858000"/>
              <a:gd name="connsiteX12" fmla="*/ 5241488 w 6244272"/>
              <a:gd name="connsiteY12" fmla="*/ 352148 h 6858000"/>
              <a:gd name="connsiteX13" fmla="*/ 5288007 w 6244272"/>
              <a:gd name="connsiteY13" fmla="*/ 394834 h 6858000"/>
              <a:gd name="connsiteX14" fmla="*/ 5305452 w 6244272"/>
              <a:gd name="connsiteY14" fmla="*/ 451747 h 6858000"/>
              <a:gd name="connsiteX15" fmla="*/ 5383953 w 6244272"/>
              <a:gd name="connsiteY15" fmla="*/ 359262 h 6858000"/>
              <a:gd name="connsiteX16" fmla="*/ 5450825 w 6244272"/>
              <a:gd name="connsiteY16" fmla="*/ 334364 h 6858000"/>
              <a:gd name="connsiteX17" fmla="*/ 5471177 w 6244272"/>
              <a:gd name="connsiteY17" fmla="*/ 416176 h 6858000"/>
              <a:gd name="connsiteX18" fmla="*/ 5410121 w 6244272"/>
              <a:gd name="connsiteY18" fmla="*/ 505101 h 6858000"/>
              <a:gd name="connsiteX19" fmla="*/ 5247303 w 6244272"/>
              <a:gd name="connsiteY19" fmla="*/ 558458 h 6858000"/>
              <a:gd name="connsiteX20" fmla="*/ 5421750 w 6244272"/>
              <a:gd name="connsiteY20" fmla="*/ 558458 h 6858000"/>
              <a:gd name="connsiteX21" fmla="*/ 5622364 w 6244272"/>
              <a:gd name="connsiteY21" fmla="*/ 522887 h 6858000"/>
              <a:gd name="connsiteX22" fmla="*/ 5834608 w 6244272"/>
              <a:gd name="connsiteY22" fmla="*/ 533558 h 6858000"/>
              <a:gd name="connsiteX23" fmla="*/ 6035223 w 6244272"/>
              <a:gd name="connsiteY23" fmla="*/ 462417 h 6858000"/>
              <a:gd name="connsiteX24" fmla="*/ 6238745 w 6244272"/>
              <a:gd name="connsiteY24" fmla="*/ 465975 h 6858000"/>
              <a:gd name="connsiteX25" fmla="*/ 5337434 w 6244272"/>
              <a:gd name="connsiteY25" fmla="*/ 910606 h 6858000"/>
              <a:gd name="connsiteX26" fmla="*/ 5381046 w 6244272"/>
              <a:gd name="connsiteY26" fmla="*/ 921277 h 6858000"/>
              <a:gd name="connsiteX27" fmla="*/ 5439195 w 6244272"/>
              <a:gd name="connsiteY27" fmla="*/ 949734 h 6858000"/>
              <a:gd name="connsiteX28" fmla="*/ 5395583 w 6244272"/>
              <a:gd name="connsiteY28" fmla="*/ 1006647 h 6858000"/>
              <a:gd name="connsiteX29" fmla="*/ 5160079 w 6244272"/>
              <a:gd name="connsiteY29" fmla="*/ 1113358 h 6858000"/>
              <a:gd name="connsiteX30" fmla="*/ 5101930 w 6244272"/>
              <a:gd name="connsiteY30" fmla="*/ 1220069 h 6858000"/>
              <a:gd name="connsiteX31" fmla="*/ 5174617 w 6244272"/>
              <a:gd name="connsiteY31" fmla="*/ 1209399 h 6858000"/>
              <a:gd name="connsiteX32" fmla="*/ 5238580 w 6244272"/>
              <a:gd name="connsiteY32" fmla="*/ 1230741 h 6858000"/>
              <a:gd name="connsiteX33" fmla="*/ 5212414 w 6244272"/>
              <a:gd name="connsiteY33" fmla="*/ 1365909 h 6858000"/>
              <a:gd name="connsiteX34" fmla="*/ 4878056 w 6244272"/>
              <a:gd name="connsiteY34" fmla="*/ 1540204 h 6858000"/>
              <a:gd name="connsiteX35" fmla="*/ 4848982 w 6244272"/>
              <a:gd name="connsiteY35" fmla="*/ 1597117 h 6858000"/>
              <a:gd name="connsiteX36" fmla="*/ 4889686 w 6244272"/>
              <a:gd name="connsiteY36" fmla="*/ 1636245 h 6858000"/>
              <a:gd name="connsiteX37" fmla="*/ 4997261 w 6244272"/>
              <a:gd name="connsiteY37" fmla="*/ 1657587 h 6858000"/>
              <a:gd name="connsiteX38" fmla="*/ 4846074 w 6244272"/>
              <a:gd name="connsiteY38" fmla="*/ 1849668 h 6858000"/>
              <a:gd name="connsiteX39" fmla="*/ 4790832 w 6244272"/>
              <a:gd name="connsiteY39" fmla="*/ 1903025 h 6858000"/>
              <a:gd name="connsiteX40" fmla="*/ 4694886 w 6244272"/>
              <a:gd name="connsiteY40" fmla="*/ 1984836 h 6858000"/>
              <a:gd name="connsiteX41" fmla="*/ 4694886 w 6244272"/>
              <a:gd name="connsiteY41" fmla="*/ 2013292 h 6858000"/>
              <a:gd name="connsiteX42" fmla="*/ 4822814 w 6244272"/>
              <a:gd name="connsiteY42" fmla="*/ 2102219 h 6858000"/>
              <a:gd name="connsiteX43" fmla="*/ 5055411 w 6244272"/>
              <a:gd name="connsiteY43" fmla="*/ 2077320 h 6858000"/>
              <a:gd name="connsiteX44" fmla="*/ 4712331 w 6244272"/>
              <a:gd name="connsiteY44" fmla="*/ 2208931 h 6858000"/>
              <a:gd name="connsiteX45" fmla="*/ 5822979 w 6244272"/>
              <a:gd name="connsiteY45" fmla="*/ 1892353 h 6858000"/>
              <a:gd name="connsiteX46" fmla="*/ 5753200 w 6244272"/>
              <a:gd name="connsiteY46" fmla="*/ 1974165 h 6858000"/>
              <a:gd name="connsiteX47" fmla="*/ 5363601 w 6244272"/>
              <a:gd name="connsiteY47" fmla="*/ 2191146 h 6858000"/>
              <a:gd name="connsiteX48" fmla="*/ 5253118 w 6244272"/>
              <a:gd name="connsiteY48" fmla="*/ 2326314 h 6858000"/>
              <a:gd name="connsiteX49" fmla="*/ 5136819 w 6244272"/>
              <a:gd name="connsiteY49" fmla="*/ 2401012 h 6858000"/>
              <a:gd name="connsiteX50" fmla="*/ 4974002 w 6244272"/>
              <a:gd name="connsiteY50" fmla="*/ 2401012 h 6858000"/>
              <a:gd name="connsiteX51" fmla="*/ 4857704 w 6244272"/>
              <a:gd name="connsiteY51" fmla="*/ 2518395 h 6858000"/>
              <a:gd name="connsiteX52" fmla="*/ 4976910 w 6244272"/>
              <a:gd name="connsiteY52" fmla="*/ 2543294 h 6858000"/>
              <a:gd name="connsiteX53" fmla="*/ 5116467 w 6244272"/>
              <a:gd name="connsiteY53" fmla="*/ 2525509 h 6858000"/>
              <a:gd name="connsiteX54" fmla="*/ 5273470 w 6244272"/>
              <a:gd name="connsiteY54" fmla="*/ 2564636 h 6858000"/>
              <a:gd name="connsiteX55" fmla="*/ 5418843 w 6244272"/>
              <a:gd name="connsiteY55" fmla="*/ 2532623 h 6858000"/>
              <a:gd name="connsiteX56" fmla="*/ 5593290 w 6244272"/>
              <a:gd name="connsiteY56" fmla="*/ 2553965 h 6858000"/>
              <a:gd name="connsiteX57" fmla="*/ 5648532 w 6244272"/>
              <a:gd name="connsiteY57" fmla="*/ 2692689 h 6858000"/>
              <a:gd name="connsiteX58" fmla="*/ 5665976 w 6244272"/>
              <a:gd name="connsiteY58" fmla="*/ 2703362 h 6858000"/>
              <a:gd name="connsiteX59" fmla="*/ 5988704 w 6244272"/>
              <a:gd name="connsiteY59" fmla="*/ 2923898 h 6858000"/>
              <a:gd name="connsiteX60" fmla="*/ 6078835 w 6244272"/>
              <a:gd name="connsiteY60" fmla="*/ 2941684 h 6858000"/>
              <a:gd name="connsiteX61" fmla="*/ 5546771 w 6244272"/>
              <a:gd name="connsiteY61" fmla="*/ 3329402 h 6858000"/>
              <a:gd name="connsiteX62" fmla="*/ 5904388 w 6244272"/>
              <a:gd name="connsiteY62" fmla="*/ 3229805 h 6858000"/>
              <a:gd name="connsiteX63" fmla="*/ 5953814 w 6244272"/>
              <a:gd name="connsiteY63" fmla="*/ 3393429 h 6858000"/>
              <a:gd name="connsiteX64" fmla="*/ 5785182 w 6244272"/>
              <a:gd name="connsiteY64" fmla="*/ 3539269 h 6858000"/>
              <a:gd name="connsiteX65" fmla="*/ 5724125 w 6244272"/>
              <a:gd name="connsiteY65" fmla="*/ 3827390 h 6858000"/>
              <a:gd name="connsiteX66" fmla="*/ 5753200 w 6244272"/>
              <a:gd name="connsiteY66" fmla="*/ 4090612 h 6858000"/>
              <a:gd name="connsiteX67" fmla="*/ 5825886 w 6244272"/>
              <a:gd name="connsiteY67" fmla="*/ 4172424 h 6858000"/>
              <a:gd name="connsiteX68" fmla="*/ 5930554 w 6244272"/>
              <a:gd name="connsiteY68" fmla="*/ 4321821 h 6858000"/>
              <a:gd name="connsiteX69" fmla="*/ 5994519 w 6244272"/>
              <a:gd name="connsiteY69" fmla="*/ 4414305 h 6858000"/>
              <a:gd name="connsiteX70" fmla="*/ 6218393 w 6244272"/>
              <a:gd name="connsiteY70" fmla="*/ 4378734 h 6858000"/>
              <a:gd name="connsiteX71" fmla="*/ 5918925 w 6244272"/>
              <a:gd name="connsiteY71" fmla="*/ 4613499 h 6858000"/>
              <a:gd name="connsiteX72" fmla="*/ 6160243 w 6244272"/>
              <a:gd name="connsiteY72" fmla="*/ 4585042 h 6858000"/>
              <a:gd name="connsiteX73" fmla="*/ 6238745 w 6244272"/>
              <a:gd name="connsiteY73" fmla="*/ 4602828 h 6858000"/>
              <a:gd name="connsiteX74" fmla="*/ 6195133 w 6244272"/>
              <a:gd name="connsiteY74" fmla="*/ 4677526 h 6858000"/>
              <a:gd name="connsiteX75" fmla="*/ 6017778 w 6244272"/>
              <a:gd name="connsiteY75" fmla="*/ 4805580 h 6858000"/>
              <a:gd name="connsiteX76" fmla="*/ 5651439 w 6244272"/>
              <a:gd name="connsiteY76" fmla="*/ 5154171 h 6858000"/>
              <a:gd name="connsiteX77" fmla="*/ 6006149 w 6244272"/>
              <a:gd name="connsiteY77" fmla="*/ 4994104 h 6858000"/>
              <a:gd name="connsiteX78" fmla="*/ 5633994 w 6244272"/>
              <a:gd name="connsiteY78" fmla="*/ 5353367 h 6858000"/>
              <a:gd name="connsiteX79" fmla="*/ 5552586 w 6244272"/>
              <a:gd name="connsiteY79" fmla="*/ 5474306 h 6858000"/>
              <a:gd name="connsiteX80" fmla="*/ 5383953 w 6244272"/>
              <a:gd name="connsiteY80" fmla="*/ 5769542 h 6858000"/>
              <a:gd name="connsiteX81" fmla="*/ 5392675 w 6244272"/>
              <a:gd name="connsiteY81" fmla="*/ 5801555 h 6858000"/>
              <a:gd name="connsiteX82" fmla="*/ 5584568 w 6244272"/>
              <a:gd name="connsiteY82" fmla="*/ 5755314 h 6858000"/>
              <a:gd name="connsiteX83" fmla="*/ 5334526 w 6244272"/>
              <a:gd name="connsiteY83" fmla="*/ 6004307 h 6858000"/>
              <a:gd name="connsiteX84" fmla="*/ 5075763 w 6244272"/>
              <a:gd name="connsiteY84" fmla="*/ 6196388 h 6858000"/>
              <a:gd name="connsiteX85" fmla="*/ 5258933 w 6244272"/>
              <a:gd name="connsiteY85" fmla="*/ 6167932 h 6858000"/>
              <a:gd name="connsiteX86" fmla="*/ 5511881 w 6244272"/>
              <a:gd name="connsiteY86" fmla="*/ 6057663 h 6858000"/>
              <a:gd name="connsiteX87" fmla="*/ 5599105 w 6244272"/>
              <a:gd name="connsiteY87" fmla="*/ 6100347 h 6858000"/>
              <a:gd name="connsiteX88" fmla="*/ 5360693 w 6244272"/>
              <a:gd name="connsiteY88" fmla="*/ 6281757 h 6858000"/>
              <a:gd name="connsiteX89" fmla="*/ 5224043 w 6244272"/>
              <a:gd name="connsiteY89" fmla="*/ 6367127 h 6858000"/>
              <a:gd name="connsiteX90" fmla="*/ 5168801 w 6244272"/>
              <a:gd name="connsiteY90" fmla="*/ 6431153 h 6858000"/>
              <a:gd name="connsiteX91" fmla="*/ 5011799 w 6244272"/>
              <a:gd name="connsiteY91" fmla="*/ 6658805 h 6858000"/>
              <a:gd name="connsiteX92" fmla="*/ 4651275 w 6244272"/>
              <a:gd name="connsiteY92" fmla="*/ 6858000 h 6858000"/>
              <a:gd name="connsiteX93" fmla="*/ 1823619 w 6244272"/>
              <a:gd name="connsiteY93" fmla="*/ 6858000 h 6858000"/>
              <a:gd name="connsiteX94" fmla="*/ 947849 w 6244272"/>
              <a:gd name="connsiteY94" fmla="*/ 6858000 h 6858000"/>
              <a:gd name="connsiteX95" fmla="*/ 732568 w 6244272"/>
              <a:gd name="connsiteY95" fmla="*/ 6858000 h 6858000"/>
              <a:gd name="connsiteX96" fmla="*/ 0 w 6244272"/>
              <a:gd name="connsiteY9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6244272" h="6858000">
                <a:moveTo>
                  <a:pt x="0" y="0"/>
                </a:moveTo>
                <a:lnTo>
                  <a:pt x="732568" y="0"/>
                </a:lnTo>
                <a:lnTo>
                  <a:pt x="947849" y="0"/>
                </a:lnTo>
                <a:lnTo>
                  <a:pt x="1823619" y="0"/>
                </a:lnTo>
                <a:lnTo>
                  <a:pt x="5235673" y="0"/>
                </a:lnTo>
                <a:cubicBezTo>
                  <a:pt x="5133912" y="35571"/>
                  <a:pt x="5035058" y="78255"/>
                  <a:pt x="4933297" y="110269"/>
                </a:cubicBezTo>
                <a:cubicBezTo>
                  <a:pt x="4947835" y="145839"/>
                  <a:pt x="4962372" y="138725"/>
                  <a:pt x="4976910" y="135168"/>
                </a:cubicBezTo>
                <a:cubicBezTo>
                  <a:pt x="5064133" y="120941"/>
                  <a:pt x="5154264" y="110269"/>
                  <a:pt x="5238580" y="71141"/>
                </a:cubicBezTo>
                <a:cubicBezTo>
                  <a:pt x="5258933" y="64027"/>
                  <a:pt x="5282192" y="64027"/>
                  <a:pt x="5290914" y="88927"/>
                </a:cubicBezTo>
                <a:cubicBezTo>
                  <a:pt x="5305452" y="124497"/>
                  <a:pt x="5285100" y="145839"/>
                  <a:pt x="5264747" y="163625"/>
                </a:cubicBezTo>
                <a:cubicBezTo>
                  <a:pt x="5229858" y="195638"/>
                  <a:pt x="5189154" y="188525"/>
                  <a:pt x="5151357" y="192082"/>
                </a:cubicBezTo>
                <a:cubicBezTo>
                  <a:pt x="5046689" y="209867"/>
                  <a:pt x="4997261" y="259665"/>
                  <a:pt x="4974002" y="373491"/>
                </a:cubicBezTo>
                <a:cubicBezTo>
                  <a:pt x="5064133" y="327250"/>
                  <a:pt x="5154264" y="384162"/>
                  <a:pt x="5241488" y="352148"/>
                </a:cubicBezTo>
                <a:cubicBezTo>
                  <a:pt x="5264747" y="345034"/>
                  <a:pt x="5299637" y="355706"/>
                  <a:pt x="5288007" y="394834"/>
                </a:cubicBezTo>
                <a:cubicBezTo>
                  <a:pt x="5276378" y="430405"/>
                  <a:pt x="5238580" y="458860"/>
                  <a:pt x="5305452" y="451747"/>
                </a:cubicBezTo>
                <a:cubicBezTo>
                  <a:pt x="5354879" y="448189"/>
                  <a:pt x="5369416" y="405504"/>
                  <a:pt x="5383953" y="359262"/>
                </a:cubicBezTo>
                <a:cubicBezTo>
                  <a:pt x="5395583" y="334364"/>
                  <a:pt x="5427565" y="320135"/>
                  <a:pt x="5450825" y="334364"/>
                </a:cubicBezTo>
                <a:cubicBezTo>
                  <a:pt x="5479899" y="348592"/>
                  <a:pt x="5471177" y="387720"/>
                  <a:pt x="5471177" y="416176"/>
                </a:cubicBezTo>
                <a:cubicBezTo>
                  <a:pt x="5474085" y="469532"/>
                  <a:pt x="5450825" y="494431"/>
                  <a:pt x="5410121" y="505101"/>
                </a:cubicBezTo>
                <a:cubicBezTo>
                  <a:pt x="5360693" y="519330"/>
                  <a:pt x="5311267" y="537116"/>
                  <a:pt x="5247303" y="558458"/>
                </a:cubicBezTo>
                <a:cubicBezTo>
                  <a:pt x="5317082" y="594028"/>
                  <a:pt x="5369416" y="586915"/>
                  <a:pt x="5421750" y="558458"/>
                </a:cubicBezTo>
                <a:cubicBezTo>
                  <a:pt x="5485714" y="526444"/>
                  <a:pt x="5570030" y="483759"/>
                  <a:pt x="5622364" y="522887"/>
                </a:cubicBezTo>
                <a:cubicBezTo>
                  <a:pt x="5700865" y="579800"/>
                  <a:pt x="5764829" y="544229"/>
                  <a:pt x="5834608" y="533558"/>
                </a:cubicBezTo>
                <a:cubicBezTo>
                  <a:pt x="5979982" y="512216"/>
                  <a:pt x="5889850" y="480203"/>
                  <a:pt x="6035223" y="462417"/>
                </a:cubicBezTo>
                <a:cubicBezTo>
                  <a:pt x="6093372" y="455303"/>
                  <a:pt x="6154429" y="426847"/>
                  <a:pt x="6238745" y="465975"/>
                </a:cubicBezTo>
                <a:cubicBezTo>
                  <a:pt x="5857868" y="672284"/>
                  <a:pt x="5677606" y="658055"/>
                  <a:pt x="5337434" y="910606"/>
                </a:cubicBezTo>
                <a:cubicBezTo>
                  <a:pt x="5351971" y="935506"/>
                  <a:pt x="5366508" y="924835"/>
                  <a:pt x="5381046" y="921277"/>
                </a:cubicBezTo>
                <a:cubicBezTo>
                  <a:pt x="5404305" y="917720"/>
                  <a:pt x="5433380" y="903491"/>
                  <a:pt x="5439195" y="949734"/>
                </a:cubicBezTo>
                <a:cubicBezTo>
                  <a:pt x="5442103" y="985305"/>
                  <a:pt x="5424657" y="1003089"/>
                  <a:pt x="5395583" y="1006647"/>
                </a:cubicBezTo>
                <a:cubicBezTo>
                  <a:pt x="5311267" y="1020875"/>
                  <a:pt x="5235673" y="1070674"/>
                  <a:pt x="5160079" y="1113358"/>
                </a:cubicBezTo>
                <a:cubicBezTo>
                  <a:pt x="5125190" y="1131144"/>
                  <a:pt x="5087393" y="1156043"/>
                  <a:pt x="5101930" y="1220069"/>
                </a:cubicBezTo>
                <a:cubicBezTo>
                  <a:pt x="5131004" y="1237855"/>
                  <a:pt x="5151357" y="1212955"/>
                  <a:pt x="5174617" y="1209399"/>
                </a:cubicBezTo>
                <a:cubicBezTo>
                  <a:pt x="5197876" y="1205842"/>
                  <a:pt x="5253118" y="1220069"/>
                  <a:pt x="5238580" y="1230741"/>
                </a:cubicBezTo>
                <a:cubicBezTo>
                  <a:pt x="5171709" y="1269868"/>
                  <a:pt x="5293822" y="1365909"/>
                  <a:pt x="5212414" y="1365909"/>
                </a:cubicBezTo>
                <a:cubicBezTo>
                  <a:pt x="5078671" y="1365909"/>
                  <a:pt x="5005984" y="1536647"/>
                  <a:pt x="4878056" y="1540204"/>
                </a:cubicBezTo>
                <a:cubicBezTo>
                  <a:pt x="4857704" y="1540204"/>
                  <a:pt x="4848982" y="1572219"/>
                  <a:pt x="4848982" y="1597117"/>
                </a:cubicBezTo>
                <a:cubicBezTo>
                  <a:pt x="4848982" y="1629132"/>
                  <a:pt x="4869333" y="1632688"/>
                  <a:pt x="4889686" y="1636245"/>
                </a:cubicBezTo>
                <a:cubicBezTo>
                  <a:pt x="4921668" y="1639802"/>
                  <a:pt x="4956557" y="1597117"/>
                  <a:pt x="4997261" y="1657587"/>
                </a:cubicBezTo>
                <a:cubicBezTo>
                  <a:pt x="4921668" y="1693158"/>
                  <a:pt x="4843167" y="1728729"/>
                  <a:pt x="4846074" y="1849668"/>
                </a:cubicBezTo>
                <a:cubicBezTo>
                  <a:pt x="4846074" y="1881683"/>
                  <a:pt x="4814092" y="1895910"/>
                  <a:pt x="4790832" y="1903025"/>
                </a:cubicBezTo>
                <a:cubicBezTo>
                  <a:pt x="4750128" y="1917252"/>
                  <a:pt x="4718146" y="1938595"/>
                  <a:pt x="4694886" y="1984836"/>
                </a:cubicBezTo>
                <a:cubicBezTo>
                  <a:pt x="4694886" y="1995507"/>
                  <a:pt x="4694886" y="2002622"/>
                  <a:pt x="4694886" y="2013292"/>
                </a:cubicBezTo>
                <a:cubicBezTo>
                  <a:pt x="4700701" y="2123562"/>
                  <a:pt x="4758850" y="2120004"/>
                  <a:pt x="4822814" y="2102219"/>
                </a:cubicBezTo>
                <a:cubicBezTo>
                  <a:pt x="4898408" y="2080877"/>
                  <a:pt x="4974002" y="2038192"/>
                  <a:pt x="5055411" y="2077320"/>
                </a:cubicBezTo>
                <a:cubicBezTo>
                  <a:pt x="4942020" y="2130676"/>
                  <a:pt x="4817000" y="2134233"/>
                  <a:pt x="4712331" y="2208931"/>
                </a:cubicBezTo>
                <a:cubicBezTo>
                  <a:pt x="5101930" y="2223159"/>
                  <a:pt x="5445010" y="1984836"/>
                  <a:pt x="5822979" y="1892353"/>
                </a:cubicBezTo>
                <a:cubicBezTo>
                  <a:pt x="5811349" y="1952823"/>
                  <a:pt x="5779367" y="1967051"/>
                  <a:pt x="5753200" y="1974165"/>
                </a:cubicBezTo>
                <a:cubicBezTo>
                  <a:pt x="5613642" y="2020407"/>
                  <a:pt x="5491529" y="2112891"/>
                  <a:pt x="5363601" y="2191146"/>
                </a:cubicBezTo>
                <a:cubicBezTo>
                  <a:pt x="5311267" y="2223159"/>
                  <a:pt x="5273470" y="2258731"/>
                  <a:pt x="5253118" y="2326314"/>
                </a:cubicBezTo>
                <a:cubicBezTo>
                  <a:pt x="5235673" y="2390340"/>
                  <a:pt x="5200783" y="2418796"/>
                  <a:pt x="5136819" y="2401012"/>
                </a:cubicBezTo>
                <a:cubicBezTo>
                  <a:pt x="5084485" y="2386784"/>
                  <a:pt x="5029243" y="2393898"/>
                  <a:pt x="4974002" y="2401012"/>
                </a:cubicBezTo>
                <a:cubicBezTo>
                  <a:pt x="4912946" y="2408126"/>
                  <a:pt x="4843167" y="2479267"/>
                  <a:pt x="4857704" y="2518395"/>
                </a:cubicBezTo>
                <a:cubicBezTo>
                  <a:pt x="4886778" y="2582422"/>
                  <a:pt x="4936205" y="2550408"/>
                  <a:pt x="4976910" y="2543294"/>
                </a:cubicBezTo>
                <a:cubicBezTo>
                  <a:pt x="5026336" y="2536181"/>
                  <a:pt x="5116467" y="2518395"/>
                  <a:pt x="5116467" y="2525509"/>
                </a:cubicBezTo>
                <a:cubicBezTo>
                  <a:pt x="5148450" y="2685576"/>
                  <a:pt x="5221136" y="2564636"/>
                  <a:pt x="5273470" y="2564636"/>
                </a:cubicBezTo>
                <a:cubicBezTo>
                  <a:pt x="5322897" y="2564636"/>
                  <a:pt x="5372323" y="2546851"/>
                  <a:pt x="5418843" y="2532623"/>
                </a:cubicBezTo>
                <a:cubicBezTo>
                  <a:pt x="5479899" y="2514837"/>
                  <a:pt x="5535140" y="2546851"/>
                  <a:pt x="5593290" y="2553965"/>
                </a:cubicBezTo>
                <a:cubicBezTo>
                  <a:pt x="5645624" y="2561080"/>
                  <a:pt x="5616550" y="2653563"/>
                  <a:pt x="5648532" y="2692689"/>
                </a:cubicBezTo>
                <a:cubicBezTo>
                  <a:pt x="5654346" y="2703362"/>
                  <a:pt x="5660161" y="2703362"/>
                  <a:pt x="5665976" y="2703362"/>
                </a:cubicBezTo>
                <a:cubicBezTo>
                  <a:pt x="5683421" y="2980812"/>
                  <a:pt x="5988704" y="2913227"/>
                  <a:pt x="5988704" y="2923898"/>
                </a:cubicBezTo>
                <a:cubicBezTo>
                  <a:pt x="6014871" y="2941684"/>
                  <a:pt x="6046853" y="2899000"/>
                  <a:pt x="6078835" y="2941684"/>
                </a:cubicBezTo>
                <a:cubicBezTo>
                  <a:pt x="5942185" y="3137322"/>
                  <a:pt x="5732847" y="3183563"/>
                  <a:pt x="5546771" y="3329402"/>
                </a:cubicBezTo>
                <a:cubicBezTo>
                  <a:pt x="5700865" y="3379202"/>
                  <a:pt x="5790997" y="3208463"/>
                  <a:pt x="5904388" y="3229805"/>
                </a:cubicBezTo>
                <a:cubicBezTo>
                  <a:pt x="5959629" y="3283162"/>
                  <a:pt x="5793904" y="3368530"/>
                  <a:pt x="5953814" y="3393429"/>
                </a:cubicBezTo>
                <a:cubicBezTo>
                  <a:pt x="5884036" y="3439672"/>
                  <a:pt x="5834608" y="3485914"/>
                  <a:pt x="5785182" y="3539269"/>
                </a:cubicBezTo>
                <a:cubicBezTo>
                  <a:pt x="5700865" y="3635309"/>
                  <a:pt x="5683421" y="3699337"/>
                  <a:pt x="5724125" y="3827390"/>
                </a:cubicBezTo>
                <a:cubicBezTo>
                  <a:pt x="5750293" y="3912759"/>
                  <a:pt x="5788089" y="3991015"/>
                  <a:pt x="5753200" y="4090612"/>
                </a:cubicBezTo>
                <a:cubicBezTo>
                  <a:pt x="5729940" y="4158196"/>
                  <a:pt x="5738663" y="4204438"/>
                  <a:pt x="5825886" y="4172424"/>
                </a:cubicBezTo>
                <a:cubicBezTo>
                  <a:pt x="5918925" y="4140411"/>
                  <a:pt x="5953814" y="4200882"/>
                  <a:pt x="5930554" y="4321821"/>
                </a:cubicBezTo>
                <a:cubicBezTo>
                  <a:pt x="5916018" y="4400076"/>
                  <a:pt x="5930554" y="4424975"/>
                  <a:pt x="5994519" y="4414305"/>
                </a:cubicBezTo>
                <a:cubicBezTo>
                  <a:pt x="6064297" y="4403633"/>
                  <a:pt x="6131169" y="4353835"/>
                  <a:pt x="6218393" y="4378734"/>
                </a:cubicBezTo>
                <a:cubicBezTo>
                  <a:pt x="6148614" y="4521016"/>
                  <a:pt x="6000333" y="4478331"/>
                  <a:pt x="5918925" y="4613499"/>
                </a:cubicBezTo>
                <a:cubicBezTo>
                  <a:pt x="6014871" y="4613499"/>
                  <a:pt x="6090465" y="4613499"/>
                  <a:pt x="6160243" y="4585042"/>
                </a:cubicBezTo>
                <a:cubicBezTo>
                  <a:pt x="6189318" y="4574373"/>
                  <a:pt x="6221300" y="4560144"/>
                  <a:pt x="6238745" y="4602828"/>
                </a:cubicBezTo>
                <a:cubicBezTo>
                  <a:pt x="6259098" y="4652628"/>
                  <a:pt x="6218393" y="4670412"/>
                  <a:pt x="6195133" y="4677526"/>
                </a:cubicBezTo>
                <a:cubicBezTo>
                  <a:pt x="6128261" y="4702425"/>
                  <a:pt x="6075928" y="4759339"/>
                  <a:pt x="6017778" y="4805580"/>
                </a:cubicBezTo>
                <a:cubicBezTo>
                  <a:pt x="5892758" y="4905177"/>
                  <a:pt x="5756107" y="4990547"/>
                  <a:pt x="5651439" y="5154171"/>
                </a:cubicBezTo>
                <a:cubicBezTo>
                  <a:pt x="5782275" y="5111487"/>
                  <a:pt x="5881128" y="5011889"/>
                  <a:pt x="6006149" y="4994104"/>
                </a:cubicBezTo>
                <a:cubicBezTo>
                  <a:pt x="5898572" y="5143500"/>
                  <a:pt x="5761922" y="5243097"/>
                  <a:pt x="5633994" y="5353367"/>
                </a:cubicBezTo>
                <a:cubicBezTo>
                  <a:pt x="5596197" y="5385379"/>
                  <a:pt x="5558400" y="5406721"/>
                  <a:pt x="5552586" y="5474306"/>
                </a:cubicBezTo>
                <a:cubicBezTo>
                  <a:pt x="5535140" y="5605917"/>
                  <a:pt x="5488622" y="5712629"/>
                  <a:pt x="5383953" y="5769542"/>
                </a:cubicBezTo>
                <a:cubicBezTo>
                  <a:pt x="5383953" y="5769542"/>
                  <a:pt x="5389768" y="5790884"/>
                  <a:pt x="5392675" y="5801555"/>
                </a:cubicBezTo>
                <a:cubicBezTo>
                  <a:pt x="5456640" y="5805112"/>
                  <a:pt x="5506066" y="5726858"/>
                  <a:pt x="5584568" y="5755314"/>
                </a:cubicBezTo>
                <a:cubicBezTo>
                  <a:pt x="5506066" y="5862025"/>
                  <a:pt x="5442103" y="5954508"/>
                  <a:pt x="5334526" y="6004307"/>
                </a:cubicBezTo>
                <a:cubicBezTo>
                  <a:pt x="5247303" y="6043434"/>
                  <a:pt x="5139727" y="6068335"/>
                  <a:pt x="5075763" y="6196388"/>
                </a:cubicBezTo>
                <a:cubicBezTo>
                  <a:pt x="5148450" y="6221287"/>
                  <a:pt x="5203691" y="6189274"/>
                  <a:pt x="5258933" y="6167932"/>
                </a:cubicBezTo>
                <a:cubicBezTo>
                  <a:pt x="5343249" y="6132361"/>
                  <a:pt x="5427565" y="6093234"/>
                  <a:pt x="5511881" y="6057663"/>
                </a:cubicBezTo>
                <a:cubicBezTo>
                  <a:pt x="5543864" y="6043434"/>
                  <a:pt x="5578753" y="6036320"/>
                  <a:pt x="5599105" y="6100347"/>
                </a:cubicBezTo>
                <a:cubicBezTo>
                  <a:pt x="5491529" y="6114575"/>
                  <a:pt x="5427565" y="6199945"/>
                  <a:pt x="5360693" y="6281757"/>
                </a:cubicBezTo>
                <a:cubicBezTo>
                  <a:pt x="5322897" y="6327999"/>
                  <a:pt x="5290914" y="6388469"/>
                  <a:pt x="5224043" y="6367127"/>
                </a:cubicBezTo>
                <a:cubicBezTo>
                  <a:pt x="5189154" y="6356456"/>
                  <a:pt x="5165894" y="6388469"/>
                  <a:pt x="5168801" y="6431153"/>
                </a:cubicBezTo>
                <a:cubicBezTo>
                  <a:pt x="5183339" y="6580550"/>
                  <a:pt x="5099022" y="6630349"/>
                  <a:pt x="5011799" y="6658805"/>
                </a:cubicBezTo>
                <a:cubicBezTo>
                  <a:pt x="4883871" y="6701489"/>
                  <a:pt x="4770480" y="6786859"/>
                  <a:pt x="4651275" y="6858000"/>
                </a:cubicBezTo>
                <a:lnTo>
                  <a:pt x="1823619" y="6858000"/>
                </a:lnTo>
                <a:lnTo>
                  <a:pt x="947849" y="6858000"/>
                </a:lnTo>
                <a:lnTo>
                  <a:pt x="732568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13" name="Google Shape;413;p31"/>
          <p:cNvSpPr txBox="1"/>
          <p:nvPr/>
        </p:nvSpPr>
        <p:spPr>
          <a:xfrm>
            <a:off x="643468" y="609600"/>
            <a:ext cx="3992700" cy="3877197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i="0" u="none" strike="noStrike" kern="1200" cap="none">
                <a:solidFill>
                  <a:schemeClr val="tx1"/>
                </a:solidFill>
                <a:latin typeface="+mj-lt"/>
                <a:ea typeface="+mj-ea"/>
                <a:cs typeface="+mj-cs"/>
                <a:sym typeface="Lato"/>
              </a:rPr>
              <a:t>Thank you for your attention.</a:t>
            </a:r>
            <a:endParaRPr lang="en-US" sz="44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147F2D-613E-5FF3-DF93-060BC165A9D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906000" y="6356350"/>
            <a:ext cx="1447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indent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 lvl="0" indent="0">
                <a:spcBef>
                  <a:spcPts val="0"/>
                </a:spcBef>
                <a:spcAft>
                  <a:spcPts val="600"/>
                </a:spcAft>
                <a:buNone/>
              </a:pPr>
              <a:t>19</a:t>
            </a:fld>
            <a:endParaRPr lang="en-US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1216</Words>
  <Application>Microsoft Office PowerPoint</Application>
  <PresentationFormat>Widescreen</PresentationFormat>
  <Paragraphs>287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Lato</vt:lpstr>
      <vt:lpstr>Lao UI</vt:lpstr>
      <vt:lpstr>Calibri</vt:lpstr>
      <vt:lpstr>Arial</vt:lpstr>
      <vt:lpstr>Poppins</vt:lpstr>
      <vt:lpstr>GreekC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Gaurawa Kovida</dc:creator>
  <cp:lastModifiedBy>Gaurawa Kovida</cp:lastModifiedBy>
  <cp:revision>18</cp:revision>
  <dcterms:modified xsi:type="dcterms:W3CDTF">2025-11-25T21:20:45Z</dcterms:modified>
</cp:coreProperties>
</file>